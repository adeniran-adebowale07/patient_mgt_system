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3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8" r:id="rId23"/>
    <p:sldId id="277" r:id="rId24"/>
    <p:sldId id="282" r:id="rId25"/>
    <p:sldId id="281" r:id="rId26"/>
    <p:sldId id="280" r:id="rId27"/>
    <p:sldId id="279" r:id="rId28"/>
    <p:sldId id="283" r:id="rId2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72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5F0C68-5A7C-4905-B8C9-1CC7A30EBAFF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997B201-776B-40C2-9990-EF8F8DA8BB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33534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ibm.com/think/topics/data-leakage" TargetMode="External"/><Relationship Id="rId7" Type="http://schemas.openxmlformats.org/officeDocument/2006/relationships/hyperlink" Target="https://www.checkpoint.com/cyber-hub/cyber-security/what-is-cybersecurity/what-is-data-leakage/" TargetMode="External"/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Relationship Id="rId6" Type="http://schemas.openxmlformats.org/officeDocument/2006/relationships/hyperlink" Target="https://arxiv.org/pdf/2312.13704" TargetMode="External"/><Relationship Id="rId5" Type="http://schemas.openxmlformats.org/officeDocument/2006/relationships/hyperlink" Target="https://www.fortinet.com/uk/resources/cyberglossary/data-leak" TargetMode="External"/><Relationship Id="rId4" Type="http://schemas.openxmlformats.org/officeDocument/2006/relationships/hyperlink" Target="https://www.bluevoyant.com/knowledge-center/data-leakage-common-causes-examples-tips-for-prevention" TargetMode="Externa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 generally falls under the </a:t>
            </a:r>
            <a:r>
              <a:rPr 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 Security</a:t>
            </a:r>
            <a:r>
              <a:rPr 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</a:t>
            </a:r>
            <a:r>
              <a:rPr 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 Loss Prevention (DLP)</a:t>
            </a:r>
            <a:r>
              <a:rPr 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domains, rather than being its own standalone department. [</a:t>
            </a:r>
            <a:r>
              <a:rPr 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1</a:t>
            </a:r>
            <a:r>
              <a:rPr 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/>
              </a:rPr>
              <a:t>2</a:t>
            </a:r>
            <a:r>
              <a:rPr 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5"/>
              </a:rPr>
              <a:t>3</a:t>
            </a:r>
            <a:r>
              <a:rPr 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6"/>
              </a:rPr>
              <a:t>4</a:t>
            </a:r>
            <a:r>
              <a:rPr 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]</a:t>
            </a:r>
          </a:p>
          <a:p>
            <a:r>
              <a:rPr 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Understanding how and where data leaks happen highlights how they are managed:</a:t>
            </a:r>
          </a:p>
          <a:p>
            <a:r>
              <a:rPr 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Data States (Where Leaks Occur)</a:t>
            </a:r>
          </a:p>
          <a:p>
            <a:r>
              <a:rPr 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 at Rest:</a:t>
            </a:r>
            <a:r>
              <a:rPr 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Leaks in this state usually happen through cloud misconfigurations, unsecured databases, or lost/stolen physical devices (like unencrypted laptops or USB drives).</a:t>
            </a:r>
          </a:p>
          <a:p>
            <a:r>
              <a:rPr 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 in Transit:</a:t>
            </a:r>
            <a:r>
              <a:rPr 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Leaks occur when data is being transferred. Without proper encryption, this includes unsecure emails, messaging apps, or exposed API calls.</a:t>
            </a:r>
          </a:p>
          <a:p>
            <a:r>
              <a:rPr 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 in Use:</a:t>
            </a:r>
            <a:r>
              <a:rPr 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Leaks occur when data is being actively processed and displayed on screens, printed on hard copies, or accidentally copied to unsecured clipboards. [</a:t>
            </a:r>
            <a:r>
              <a:rPr 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1</a:t>
            </a:r>
            <a:r>
              <a:rPr 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7"/>
              </a:rPr>
              <a:t>2</a:t>
            </a:r>
            <a:r>
              <a:rPr 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/>
              </a:rPr>
              <a:t>3</a:t>
            </a:r>
            <a:r>
              <a:rPr 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]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997B201-776B-40C2-9990-EF8F8DA8BB6B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3422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most common primary causes of data leaks include: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Human Error and Negligence: Accidental exposures, such as employees sending emails to the wrong recipient, leaving laptops in public spaces, or failing to follow proper security protocols.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Phishing and Social Engineering: Cybercriminals using deceptive emails or messages to trick users into handing over their login credentials or clicking on malicious links.</a:t>
            </a:r>
          </a:p>
          <a:p>
            <a:endParaRPr lang="en-US" dirty="0"/>
          </a:p>
          <a:p>
            <a:r>
              <a:rPr lang="en-US" dirty="0"/>
              <a:t>Weak or Stolen Credentials: Reusing passwords, using easily guessable passwords, or failing to implement Multi-Factor Authentication (MFA), giving attackers easy access.</a:t>
            </a:r>
          </a:p>
          <a:p>
            <a:endParaRPr lang="en-US" dirty="0"/>
          </a:p>
          <a:p>
            <a:r>
              <a:rPr lang="en-US" dirty="0"/>
              <a:t>Misconfigured Systems and Cloud Storage: </a:t>
            </a:r>
          </a:p>
          <a:p>
            <a:r>
              <a:rPr lang="en-US" dirty="0"/>
              <a:t>Improperly secured databases, cloud buckets (like Amazon S3), or developer environments left open to the public without adequate access controls.</a:t>
            </a:r>
          </a:p>
          <a:p>
            <a:endParaRPr lang="en-US" dirty="0"/>
          </a:p>
          <a:p>
            <a:r>
              <a:rPr lang="en-US" dirty="0"/>
              <a:t>Software Vulnerabilities and Unpatched Systems: Outdated software or unpatched firmware that contains known security flaws which automated bots or hackers can exploit.</a:t>
            </a:r>
          </a:p>
          <a:p>
            <a:endParaRPr lang="en-US" dirty="0"/>
          </a:p>
          <a:p>
            <a:r>
              <a:rPr lang="en-US" dirty="0"/>
              <a:t>Insider Threats: Current or former employees, contractors, or business partners who misuse their access privileges—either maliciously to steal and sell data, or accidentally through carelessness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997B201-776B-40C2-9990-EF8F8DA8BB6B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269375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Here, I will be relating the role of the SOC with the identified data-leaks causes.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997B201-776B-40C2-9990-EF8F8DA8BB6B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476887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most common primary causes of data leaks include: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Human Error and Negligence: Accidental exposures, such as employees sending emails to the wrong recipient, leaving laptops in public spaces, or failing to follow proper security protocols.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Phishing and Social Engineering: Cybercriminals using deceptive emails or messages to trick users into handing over their login credentials or clicking on malicious links.</a:t>
            </a:r>
          </a:p>
          <a:p>
            <a:endParaRPr lang="en-US" dirty="0"/>
          </a:p>
          <a:p>
            <a:r>
              <a:rPr lang="en-US" dirty="0"/>
              <a:t>Weak or Stolen Credentials: Reusing passwords, using easily guessable passwords, or failing to implement Multi-Factor Authentication (MFA), giving attackers easy access.</a:t>
            </a:r>
          </a:p>
          <a:p>
            <a:endParaRPr lang="en-US" dirty="0"/>
          </a:p>
          <a:p>
            <a:r>
              <a:rPr lang="en-US" dirty="0"/>
              <a:t>Misconfigured Systems and Cloud Storage: </a:t>
            </a:r>
          </a:p>
          <a:p>
            <a:r>
              <a:rPr lang="en-US" dirty="0"/>
              <a:t>Improperly secured databases, cloud buckets (like Amazon S3), or developer environments left open to the public without adequate access controls.</a:t>
            </a:r>
          </a:p>
          <a:p>
            <a:endParaRPr lang="en-US" dirty="0"/>
          </a:p>
          <a:p>
            <a:r>
              <a:rPr lang="en-US" dirty="0"/>
              <a:t>Software Vulnerabilities and Unpatched Systems: Outdated software or unpatched firmware that contains known security flaws which automated bots or hackers can exploit.</a:t>
            </a:r>
          </a:p>
          <a:p>
            <a:endParaRPr lang="en-US" dirty="0"/>
          </a:p>
          <a:p>
            <a:r>
              <a:rPr lang="en-US" dirty="0"/>
              <a:t>Insider Threats: Current or former employees, contractors, or business partners who misuse their access privileges—either maliciously to steal and sell data, or accidentally through carelessness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997B201-776B-40C2-9990-EF8F8DA8BB6B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157613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6215CE-E2D6-D4C7-617B-5FA06CD2A5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012B104-8961-338F-1728-4D570E1569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61E5F39-154B-08C5-56E5-085AC04D6E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most common primary causes of data leaks include: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Human Error and Negligence: Accidental exposures, such as employees sending emails to the wrong recipient, leaving laptops in public spaces, or failing to follow proper security protocols.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Phishing and Social Engineering: Cybercriminals using deceptive emails or messages to trick users into handing over their login credentials or clicking on malicious links.</a:t>
            </a:r>
          </a:p>
          <a:p>
            <a:endParaRPr lang="en-US" dirty="0"/>
          </a:p>
          <a:p>
            <a:r>
              <a:rPr lang="en-US" dirty="0"/>
              <a:t>Weak or Stolen Credentials: Reusing passwords, using easily guessable passwords, or failing to implement Multi-Factor Authentication (MFA), giving attackers easy access.</a:t>
            </a:r>
          </a:p>
          <a:p>
            <a:endParaRPr lang="en-US" dirty="0"/>
          </a:p>
          <a:p>
            <a:r>
              <a:rPr lang="en-US" dirty="0"/>
              <a:t>Misconfigured Systems and Cloud Storage: </a:t>
            </a:r>
          </a:p>
          <a:p>
            <a:r>
              <a:rPr lang="en-US" dirty="0"/>
              <a:t>Improperly secured databases, cloud buckets (like Amazon S3), or developer environments left open to the public without adequate access controls.</a:t>
            </a:r>
          </a:p>
          <a:p>
            <a:endParaRPr lang="en-US" dirty="0"/>
          </a:p>
          <a:p>
            <a:r>
              <a:rPr lang="en-US" dirty="0"/>
              <a:t>Software Vulnerabilities and Unpatched Systems: Outdated software or unpatched firmware that contains known security flaws which automated bots or hackers can exploit.</a:t>
            </a:r>
          </a:p>
          <a:p>
            <a:endParaRPr lang="en-US" dirty="0"/>
          </a:p>
          <a:p>
            <a:r>
              <a:rPr lang="en-US" dirty="0"/>
              <a:t>Insider Threats: Current or former employees, contractors, or business partners who misuse their access privileges—either maliciously to steal and sell data, or accidentally through carelessness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92C5D1-323C-F1B9-D14D-B70F49DF50B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997B201-776B-40C2-9990-EF8F8DA8BB6B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382173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4846BD-C192-FF85-6447-42D70856E4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5044EFC-ADB8-C4FB-6655-81399F9BE7C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45A447B-13A1-3016-94F6-383AA79816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most common primary causes of data leaks include: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Human Error and Negligence: Accidental exposures, such as employees sending emails to the wrong recipient, leaving laptops in public spaces, or failing to follow proper security protocols.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Phishing and Social Engineering: Cybercriminals using deceptive emails or messages to trick users into handing over their login credentials or clicking on malicious links.</a:t>
            </a:r>
          </a:p>
          <a:p>
            <a:endParaRPr lang="en-US" dirty="0"/>
          </a:p>
          <a:p>
            <a:r>
              <a:rPr lang="en-US" dirty="0"/>
              <a:t>Weak or Stolen Credentials: Reusing passwords, using easily guessable passwords, or failing to implement Multi-Factor Authentication (MFA), giving attackers easy access.</a:t>
            </a:r>
          </a:p>
          <a:p>
            <a:endParaRPr lang="en-US" dirty="0"/>
          </a:p>
          <a:p>
            <a:r>
              <a:rPr lang="en-US" dirty="0"/>
              <a:t>Misconfigured Systems and Cloud Storage: </a:t>
            </a:r>
          </a:p>
          <a:p>
            <a:r>
              <a:rPr lang="en-US" dirty="0"/>
              <a:t>Improperly secured databases, cloud buckets (like Amazon S3), or developer environments left open to the public without adequate access controls.</a:t>
            </a:r>
          </a:p>
          <a:p>
            <a:endParaRPr lang="en-US" dirty="0"/>
          </a:p>
          <a:p>
            <a:r>
              <a:rPr lang="en-US" dirty="0"/>
              <a:t>Software Vulnerabilities and Unpatched Systems: Outdated software or unpatched firmware that contains known security flaws which automated bots or hackers can exploit.</a:t>
            </a:r>
          </a:p>
          <a:p>
            <a:endParaRPr lang="en-US" dirty="0"/>
          </a:p>
          <a:p>
            <a:r>
              <a:rPr lang="en-US" dirty="0"/>
              <a:t>Insider Threats: Current or former employees, contractors, or business partners who misuse their access privileges—either maliciously to steal and sell data, or accidentally through carelessness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557C4F-D2D3-C630-E17D-37ECB079B29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997B201-776B-40C2-9990-EF8F8DA8BB6B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014792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90780A-0331-3321-4E38-571EEDEC0B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9E6460-15DA-4388-EFE8-F28EDD781F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3AD300-C460-6184-5B2C-08D4871D02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most common primary causes of data leaks include: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Human Error and Negligence: Accidental exposures, such as employees sending emails to the wrong recipient, leaving laptops in public spaces, or failing to follow proper security protocols.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Phishing and Social Engineering: Cybercriminals using deceptive emails or messages to trick users into handing over their login credentials or clicking on malicious links.</a:t>
            </a:r>
          </a:p>
          <a:p>
            <a:endParaRPr lang="en-US" dirty="0"/>
          </a:p>
          <a:p>
            <a:r>
              <a:rPr lang="en-US" dirty="0"/>
              <a:t>Weak or Stolen Credentials: Reusing passwords, using easily guessable passwords, or failing to implement Multi-Factor Authentication (MFA), giving attackers easy access.</a:t>
            </a:r>
          </a:p>
          <a:p>
            <a:endParaRPr lang="en-US" dirty="0"/>
          </a:p>
          <a:p>
            <a:r>
              <a:rPr lang="en-US" dirty="0"/>
              <a:t>Misconfigured Systems and Cloud Storage: </a:t>
            </a:r>
          </a:p>
          <a:p>
            <a:r>
              <a:rPr lang="en-US" dirty="0"/>
              <a:t>Improperly secured databases, cloud buckets (like Amazon S3), or developer environments left open to the public without adequate access controls.</a:t>
            </a:r>
          </a:p>
          <a:p>
            <a:endParaRPr lang="en-US" dirty="0"/>
          </a:p>
          <a:p>
            <a:r>
              <a:rPr lang="en-US" dirty="0"/>
              <a:t>Software Vulnerabilities and Unpatched Systems: Outdated software or unpatched firmware that contains known security flaws which automated bots or hackers can exploit.</a:t>
            </a:r>
          </a:p>
          <a:p>
            <a:endParaRPr lang="en-US" dirty="0"/>
          </a:p>
          <a:p>
            <a:r>
              <a:rPr lang="en-US" dirty="0"/>
              <a:t>Insider Threats: Current or former employees, contractors, or business partners who misuse their access privileges—either maliciously to steal and sell data, or accidentally through carelessness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46880E-D874-1816-1C79-A0A9361CF84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997B201-776B-40C2-9990-EF8F8DA8BB6B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54019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250D3E-3FB2-18AA-7270-F6D8C6A868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479F858-E79D-B994-8133-67FB28C9D8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7B0875-37EB-85E2-D85B-A53F7E4B3B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most common primary causes of data leaks include: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Human Error and Negligence: Accidental exposures, such as employees sending emails to the wrong recipient, leaving laptops in public spaces, or failing to follow proper security protocols.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Phishing and Social Engineering: Cybercriminals using deceptive emails or messages to trick users into handing over their login credentials or clicking on malicious links.</a:t>
            </a:r>
          </a:p>
          <a:p>
            <a:endParaRPr lang="en-US" dirty="0"/>
          </a:p>
          <a:p>
            <a:r>
              <a:rPr lang="en-US" dirty="0"/>
              <a:t>Weak or Stolen Credentials: Reusing passwords, using easily guessable passwords, or failing to implement Multi-Factor Authentication (MFA), giving attackers easy access.</a:t>
            </a:r>
          </a:p>
          <a:p>
            <a:endParaRPr lang="en-US" dirty="0"/>
          </a:p>
          <a:p>
            <a:r>
              <a:rPr lang="en-US" dirty="0"/>
              <a:t>Misconfigured Systems and Cloud Storage: </a:t>
            </a:r>
          </a:p>
          <a:p>
            <a:r>
              <a:rPr lang="en-US" dirty="0"/>
              <a:t>Improperly secured databases, cloud buckets (like Amazon S3), or developer environments left open to the public without adequate access controls.</a:t>
            </a:r>
          </a:p>
          <a:p>
            <a:endParaRPr lang="en-US" dirty="0"/>
          </a:p>
          <a:p>
            <a:r>
              <a:rPr lang="en-US" dirty="0"/>
              <a:t>Software Vulnerabilities and Unpatched Systems: Outdated software or unpatched firmware that contains known security flaws which automated bots or hackers can exploit.</a:t>
            </a:r>
          </a:p>
          <a:p>
            <a:endParaRPr lang="en-US" dirty="0"/>
          </a:p>
          <a:p>
            <a:r>
              <a:rPr lang="en-US" dirty="0"/>
              <a:t>Insider Threats: Current or former employees, contractors, or business partners who misuse their access privileges—either maliciously to steal and sell data, or accidentally through carelessness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2BC284-19F5-EE05-DAF2-E00F3D5F1FA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997B201-776B-40C2-9990-EF8F8DA8BB6B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146928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D02FED-3F74-C1A0-A5C9-69B73D7480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83FDAF5-79F5-2F1C-C3F4-FA8692F19A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3AEF982-261D-8992-4635-6B5D38D686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most common primary causes of data leaks include: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Human Error and Negligence: Accidental exposures, such as employees sending emails to the wrong recipient, leaving laptops in public spaces, or failing to follow proper security protocols.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Phishing and Social Engineering: Cybercriminals using deceptive emails or messages to trick users into handing over their login credentials or clicking on malicious links.</a:t>
            </a:r>
          </a:p>
          <a:p>
            <a:endParaRPr lang="en-US" dirty="0"/>
          </a:p>
          <a:p>
            <a:r>
              <a:rPr lang="en-US" dirty="0"/>
              <a:t>Weak or Stolen Credentials: Reusing passwords, using easily guessable passwords, or failing to implement Multi-Factor Authentication (MFA), giving attackers easy access.</a:t>
            </a:r>
          </a:p>
          <a:p>
            <a:endParaRPr lang="en-US" dirty="0"/>
          </a:p>
          <a:p>
            <a:r>
              <a:rPr lang="en-US" dirty="0"/>
              <a:t>Misconfigured Systems and Cloud Storage: </a:t>
            </a:r>
          </a:p>
          <a:p>
            <a:r>
              <a:rPr lang="en-US" dirty="0"/>
              <a:t>Improperly secured databases, cloud buckets (like Amazon S3), or developer environments left open to the public without adequate access controls.</a:t>
            </a:r>
          </a:p>
          <a:p>
            <a:endParaRPr lang="en-US" dirty="0"/>
          </a:p>
          <a:p>
            <a:r>
              <a:rPr lang="en-US" dirty="0"/>
              <a:t>Software Vulnerabilities and Unpatched Systems: Outdated software or unpatched firmware that contains known security flaws which automated bots or hackers can exploit.</a:t>
            </a:r>
          </a:p>
          <a:p>
            <a:endParaRPr lang="en-US" dirty="0"/>
          </a:p>
          <a:p>
            <a:r>
              <a:rPr lang="en-US" dirty="0"/>
              <a:t>Insider Threats: Current or former employees, contractors, or business partners who misuse their access privileges—either maliciously to steal and sell data, or accidentally through carelessness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08EEF0-3361-D1CB-0020-84DFBD7B31C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997B201-776B-40C2-9990-EF8F8DA8BB6B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263123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3BFBD7-175B-CA45-4B88-D694488CF9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E6256A4-E8D3-CDEF-D8A9-542CF9F672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C650D16-118B-9C4F-3CDF-C0B07249C1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most common primary causes of data leaks include: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Human Error and Negligence: Accidental exposures, such as employees sending emails to the wrong recipient, leaving laptops in public spaces, or failing to follow proper security protocols.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Phishing and Social Engineering: Cybercriminals using deceptive emails or messages to trick users into handing over their login credentials or clicking on malicious links.</a:t>
            </a:r>
          </a:p>
          <a:p>
            <a:endParaRPr lang="en-US" dirty="0"/>
          </a:p>
          <a:p>
            <a:r>
              <a:rPr lang="en-US" dirty="0"/>
              <a:t>Weak or Stolen Credentials: Reusing passwords, using easily guessable passwords, or failing to implement Multi-Factor Authentication (MFA), giving attackers easy access.</a:t>
            </a:r>
          </a:p>
          <a:p>
            <a:endParaRPr lang="en-US" dirty="0"/>
          </a:p>
          <a:p>
            <a:r>
              <a:rPr lang="en-US" dirty="0"/>
              <a:t>Misconfigured Systems and Cloud Storage: </a:t>
            </a:r>
          </a:p>
          <a:p>
            <a:r>
              <a:rPr lang="en-US" dirty="0"/>
              <a:t>Improperly secured databases, cloud buckets (like Amazon S3), or developer environments left open to the public without adequate access controls.</a:t>
            </a:r>
          </a:p>
          <a:p>
            <a:endParaRPr lang="en-US" dirty="0"/>
          </a:p>
          <a:p>
            <a:r>
              <a:rPr lang="en-US" dirty="0"/>
              <a:t>Software Vulnerabilities and Unpatched Systems: Outdated software or unpatched firmware that contains known security flaws which automated bots or hackers can exploit.</a:t>
            </a:r>
          </a:p>
          <a:p>
            <a:endParaRPr lang="en-US" dirty="0"/>
          </a:p>
          <a:p>
            <a:r>
              <a:rPr lang="en-US" dirty="0"/>
              <a:t>Insider Threats: Current or former employees, contractors, or business partners who misuse their access privileges—either maliciously to steal and sell data, or accidentally through carelessness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03CB00-576A-CA57-0FB5-CF6BF56016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997B201-776B-40C2-9990-EF8F8DA8BB6B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821151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53F0FD-4195-39FF-4D66-ABC4B4223B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7DFFB0A-9C10-4652-C686-5983ED660F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524FB7-8C05-8044-D0C7-4464DA9202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most common primary causes of data leaks include: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Human Error and Negligence: Accidental exposures, such as employees sending emails to the wrong recipient, leaving laptops in public spaces, or failing to follow proper security protocols.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Phishing and Social Engineering: Cybercriminals using deceptive emails or messages to trick users into handing over their login credentials or clicking on malicious links.</a:t>
            </a:r>
          </a:p>
          <a:p>
            <a:endParaRPr lang="en-US" dirty="0"/>
          </a:p>
          <a:p>
            <a:r>
              <a:rPr lang="en-US" dirty="0"/>
              <a:t>Weak or Stolen Credentials: Reusing passwords, using easily guessable passwords, or failing to implement Multi-Factor Authentication (MFA), giving attackers easy access.</a:t>
            </a:r>
          </a:p>
          <a:p>
            <a:endParaRPr lang="en-US" dirty="0"/>
          </a:p>
          <a:p>
            <a:r>
              <a:rPr lang="en-US" dirty="0"/>
              <a:t>Misconfigured Systems and Cloud Storage: </a:t>
            </a:r>
          </a:p>
          <a:p>
            <a:r>
              <a:rPr lang="en-US" dirty="0"/>
              <a:t>Improperly secured databases, cloud buckets (like Amazon S3), or developer environments left open to the public without adequate access controls.</a:t>
            </a:r>
          </a:p>
          <a:p>
            <a:endParaRPr lang="en-US" dirty="0"/>
          </a:p>
          <a:p>
            <a:r>
              <a:rPr lang="en-US" dirty="0"/>
              <a:t>Software Vulnerabilities and Unpatched Systems: Outdated software or unpatched firmware that contains known security flaws which automated bots or hackers can exploit.</a:t>
            </a:r>
          </a:p>
          <a:p>
            <a:endParaRPr lang="en-US" dirty="0"/>
          </a:p>
          <a:p>
            <a:r>
              <a:rPr lang="en-US" dirty="0"/>
              <a:t>Insider Threats: Current or former employees, contractors, or business partners who misuse their access privileges—either maliciously to steal and sell data, or accidentally through carelessness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51A5EA-5B5A-4645-C362-4A1846760D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997B201-776B-40C2-9990-EF8F8DA8BB6B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024218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Title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1300785"/>
            <a:ext cx="8689976" cy="2509213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89976" cy="1371599"/>
          </a:xfrm>
        </p:spPr>
        <p:txBody>
          <a:bodyPr>
            <a:normAutofit/>
          </a:bodyPr>
          <a:lstStyle>
            <a:lvl1pPr marL="0" indent="0" algn="ctr">
              <a:buNone/>
              <a:defRPr sz="22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5/22/2026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5/22/2026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828563"/>
            <a:ext cx="10351752" cy="2736819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4" y="3657457"/>
            <a:ext cx="10351752" cy="1368183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5/22/2026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5106026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3"/>
          <p:cNvSpPr>
            <a:spLocks noGrp="1"/>
          </p:cNvSpPr>
          <p:nvPr>
            <p:ph sz="quarter" idx="14"/>
          </p:nvPr>
        </p:nvSpPr>
        <p:spPr>
          <a:xfrm>
            <a:off x="6172200" y="2367092"/>
            <a:ext cx="5105400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5/22/2026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6328" y="2371018"/>
            <a:ext cx="487347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3"/>
          </p:nvPr>
        </p:nvSpPr>
        <p:spPr>
          <a:xfrm>
            <a:off x="913774" y="3051012"/>
            <a:ext cx="5106027" cy="27401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96423" y="2371018"/>
            <a:ext cx="488180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Content Placeholder 5"/>
          <p:cNvSpPr>
            <a:spLocks noGrp="1"/>
          </p:cNvSpPr>
          <p:nvPr>
            <p:ph sz="quarter" idx="14"/>
          </p:nvPr>
        </p:nvSpPr>
        <p:spPr>
          <a:xfrm>
            <a:off x="6172200" y="3051012"/>
            <a:ext cx="5105401" cy="27401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5/22/2026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5/22/2026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5/22/2026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609600"/>
            <a:ext cx="3935688" cy="2023252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3"/>
          </p:nvPr>
        </p:nvSpPr>
        <p:spPr>
          <a:xfrm>
            <a:off x="5078062" y="609600"/>
            <a:ext cx="6200163" cy="518159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2632852"/>
            <a:ext cx="3935689" cy="3158348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5/22/2026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5934969" cy="2023254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3" y="609601"/>
            <a:ext cx="3255358" cy="5181600"/>
          </a:xfrm>
          <a:prstGeom prst="roundRect">
            <a:avLst>
              <a:gd name="adj" fmla="val 4943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632852"/>
            <a:ext cx="5934949" cy="3158347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5/22/2026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4289374"/>
            <a:ext cx="10364432" cy="81161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84744" y="698261"/>
            <a:ext cx="9822532" cy="3214136"/>
          </a:xfrm>
          <a:prstGeom prst="roundRect">
            <a:avLst>
              <a:gd name="adj" fmla="val 4944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5108728"/>
            <a:ext cx="10364452" cy="682472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5/22/2026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599"/>
            <a:ext cx="10364452" cy="3427245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204821"/>
            <a:ext cx="10364452" cy="1586380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5/22/2026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9478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4372796"/>
            <a:ext cx="10364452" cy="142105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5/22/2026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13" name="TextBox 12"/>
          <p:cNvSpPr txBox="1"/>
          <p:nvPr/>
        </p:nvSpPr>
        <p:spPr>
          <a:xfrm>
            <a:off x="1001488" y="75416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57558" y="29935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2138721"/>
            <a:ext cx="10364452" cy="2511835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662335"/>
            <a:ext cx="10364452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5/22/2026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10364452" cy="160509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74" y="2367093"/>
            <a:ext cx="3298976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74" y="2943355"/>
            <a:ext cx="3298976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52389" y="2367093"/>
            <a:ext cx="329152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348" y="2943355"/>
            <a:ext cx="3303351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367093"/>
            <a:ext cx="33049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3298" y="2943355"/>
            <a:ext cx="3304928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5/22/2026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74" y="610772"/>
            <a:ext cx="10364452" cy="160392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74" y="4204820"/>
            <a:ext cx="3296409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913774" y="2367093"/>
            <a:ext cx="3296409" cy="1524000"/>
          </a:xfrm>
          <a:prstGeom prst="roundRect">
            <a:avLst>
              <a:gd name="adj" fmla="val 9363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74" y="4781082"/>
            <a:ext cx="3296409" cy="101011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59" y="4204820"/>
            <a:ext cx="33018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41348" y="2367093"/>
            <a:ext cx="3303352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81080"/>
            <a:ext cx="3303352" cy="101011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4204820"/>
            <a:ext cx="330068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973298" y="2367093"/>
            <a:ext cx="3304928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173" y="4781078"/>
            <a:ext cx="3305053" cy="1010121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5/22/2026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2367093"/>
            <a:ext cx="10364452" cy="342410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5/22/2026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601"/>
            <a:ext cx="2553326" cy="518159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609601"/>
            <a:ext cx="7658724" cy="518159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5/22/2026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5" y="2367093"/>
            <a:ext cx="10364452" cy="34241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48A87A34-81AB-432B-8DAE-1953F412C126}" type="datetimeFigureOut">
              <a:rPr lang="en-US" dirty="0"/>
              <a:pPr/>
              <a:t>5/22/2026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2762A32-1C00-A8A6-DCA8-8733B361CA47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9718675" y="6642100"/>
            <a:ext cx="2435225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10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Sensitivity: COMMERCIALLY CONFIDENTIAL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6" r:id="rId12"/>
    <p:sldLayoutId id="2147483663" r:id="rId13"/>
    <p:sldLayoutId id="2147483667" r:id="rId14"/>
    <p:sldLayoutId id="2147483668" r:id="rId15"/>
    <p:sldLayoutId id="2147483658" r:id="rId16"/>
    <p:sldLayoutId id="2147483659" r:id="rId17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tx1"/>
        </a:buClr>
        <a:buFont typeface="Arial" panose="020B0604020202020204" pitchFamily="34" charset="0"/>
        <a:buChar char="•"/>
        <a:defRPr sz="20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8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6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39126C-04A9-4F51-8EB5-876E3433C1F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41180" y="2517057"/>
            <a:ext cx="8689976" cy="1430592"/>
          </a:xfrm>
        </p:spPr>
        <p:txBody>
          <a:bodyPr>
            <a:normAutofit/>
          </a:bodyPr>
          <a:lstStyle/>
          <a:p>
            <a:r>
              <a:rPr lang="en-US" sz="4400" b="1" dirty="0">
                <a:solidFill>
                  <a:srgbClr val="000000"/>
                </a:solidFill>
                <a:effectLst/>
                <a:latin typeface="Aptos"/>
                <a:ea typeface="Canva Sans Bold"/>
                <a:cs typeface="Canva Sans Bold"/>
              </a:rPr>
              <a:t>Data Leaks and the Role of SOC in Mitigating the Risk </a:t>
            </a:r>
            <a:endParaRPr lang="en-US" sz="4400" dirty="0">
              <a:latin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16397859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39126C-04A9-4F51-8EB5-876E3433C1F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57714" y="673769"/>
            <a:ext cx="8689976" cy="1249910"/>
          </a:xfrm>
        </p:spPr>
        <p:txBody>
          <a:bodyPr>
            <a:normAutofit/>
          </a:bodyPr>
          <a:lstStyle/>
          <a:p>
            <a:pPr algn="l"/>
            <a:r>
              <a:rPr lang="en-US" sz="4000" b="1" dirty="0">
                <a:solidFill>
                  <a:srgbClr val="000000"/>
                </a:solidFill>
                <a:effectLst/>
                <a:latin typeface="Canva Sans Bold"/>
                <a:ea typeface="Canva Sans Bold"/>
                <a:cs typeface="Canva Sans Bold"/>
              </a:rPr>
              <a:t>Objectives </a:t>
            </a:r>
            <a:endParaRPr lang="en-US" sz="4000" dirty="0">
              <a:latin typeface="Aptos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C278A66-6C2B-4CC8-B216-ED850C6A8F3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57714" y="2502343"/>
            <a:ext cx="9013241" cy="2707103"/>
          </a:xfrm>
        </p:spPr>
        <p:txBody>
          <a:bodyPr/>
          <a:lstStyle/>
          <a:p>
            <a:pPr marL="0" marR="0" algn="l">
              <a:lnSpc>
                <a:spcPct val="1150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sz="2800" dirty="0">
                <a:solidFill>
                  <a:srgbClr val="000000"/>
                </a:solidFill>
                <a:effectLst/>
                <a:latin typeface="Aptos"/>
                <a:ea typeface="Aptos"/>
                <a:cs typeface="Aptos"/>
              </a:rPr>
              <a:t>- Know about DATA and its importance </a:t>
            </a:r>
            <a:endParaRPr lang="en-US" sz="2800" dirty="0">
              <a:effectLst/>
              <a:latin typeface="Calibri" panose="020F050202020403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algn="l">
              <a:lnSpc>
                <a:spcPct val="1150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sz="2800" dirty="0">
                <a:solidFill>
                  <a:srgbClr val="000000"/>
                </a:solidFill>
                <a:effectLst/>
                <a:latin typeface="Aptos"/>
                <a:ea typeface="Aptos"/>
                <a:cs typeface="Aptos"/>
              </a:rPr>
              <a:t>- Know about data security and data risk </a:t>
            </a:r>
            <a:endParaRPr lang="en-US" sz="2800" dirty="0">
              <a:effectLst/>
              <a:latin typeface="Calibri" panose="020F050202020403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algn="l">
              <a:lnSpc>
                <a:spcPct val="1150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sz="2800" dirty="0">
                <a:solidFill>
                  <a:srgbClr val="000000"/>
                </a:solidFill>
                <a:effectLst/>
                <a:latin typeface="Aptos"/>
                <a:ea typeface="Aptos"/>
                <a:cs typeface="Aptos"/>
              </a:rPr>
              <a:t>- SOC monitoring to detect data-leak</a:t>
            </a:r>
            <a:endParaRPr lang="en-US" sz="2800" dirty="0">
              <a:effectLst/>
              <a:latin typeface="Calibri" panose="020F050202020403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59878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0C278A66-6C2B-4CC8-B216-ED850C6A8F3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1012" y="2553419"/>
            <a:ext cx="9013241" cy="3657600"/>
          </a:xfrm>
        </p:spPr>
        <p:txBody>
          <a:bodyPr>
            <a:normAutofit fontScale="92500" lnSpcReduction="20000"/>
          </a:bodyPr>
          <a:lstStyle/>
          <a:p>
            <a:pPr marL="0" marR="0" algn="l">
              <a:lnSpc>
                <a:spcPct val="115000"/>
              </a:lnSpc>
              <a:spcBef>
                <a:spcPts val="600"/>
              </a:spcBef>
              <a:spcAft>
                <a:spcPts val="600"/>
              </a:spcAft>
            </a:pPr>
            <a:endParaRPr lang="en-US" b="1" dirty="0">
              <a:solidFill>
                <a:srgbClr val="000000"/>
              </a:solidFill>
              <a:effectLst/>
              <a:latin typeface="Canva Sans Bold"/>
              <a:ea typeface="Canva Sans Bold"/>
              <a:cs typeface="Canva Sans Bold"/>
            </a:endParaRPr>
          </a:p>
          <a:p>
            <a:pPr marL="0" marR="0" algn="l">
              <a:lnSpc>
                <a:spcPct val="1150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b="1" dirty="0">
                <a:solidFill>
                  <a:srgbClr val="000000"/>
                </a:solidFill>
                <a:effectLst/>
                <a:latin typeface="Canva Sans Bold"/>
                <a:ea typeface="Canva Sans Bold"/>
                <a:cs typeface="Canva Sans Bold"/>
              </a:rPr>
              <a:t>CATEGORIES OF DATA </a:t>
            </a:r>
          </a:p>
          <a:p>
            <a:pPr marL="0" marR="0" algn="l">
              <a:lnSpc>
                <a:spcPct val="115000"/>
              </a:lnSpc>
              <a:spcBef>
                <a:spcPts val="600"/>
              </a:spcBef>
              <a:spcAft>
                <a:spcPts val="600"/>
              </a:spcAft>
            </a:pPr>
            <a:endParaRPr lang="en-US" dirty="0">
              <a:effectLst/>
              <a:latin typeface="Calibri" panose="020F050202020403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algn="l">
              <a:lnSpc>
                <a:spcPct val="1150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sz="1800" b="1" dirty="0">
                <a:solidFill>
                  <a:srgbClr val="000000"/>
                </a:solidFill>
                <a:effectLst/>
                <a:latin typeface="Aptos"/>
                <a:ea typeface="Aptos"/>
                <a:cs typeface="Aptos"/>
              </a:rPr>
              <a:t>Transactional Data- </a:t>
            </a:r>
            <a:r>
              <a:rPr lang="en-US" sz="1800" dirty="0">
                <a:solidFill>
                  <a:srgbClr val="000000"/>
                </a:solidFill>
                <a:effectLst/>
                <a:latin typeface="Aptos"/>
                <a:ea typeface="Aptos"/>
                <a:cs typeface="Aptos"/>
              </a:rPr>
              <a:t>Records Of Daily Business Events</a:t>
            </a:r>
            <a:r>
              <a:rPr lang="en-US" sz="1800" dirty="0">
                <a:solidFill>
                  <a:srgbClr val="000000"/>
                </a:solidFill>
                <a:effectLst/>
                <a:latin typeface="Arimo"/>
                <a:ea typeface="Arimo"/>
                <a:cs typeface="Arimo"/>
              </a:rPr>
              <a:t> </a:t>
            </a:r>
          </a:p>
          <a:p>
            <a:pPr marL="0" marR="0" algn="l">
              <a:lnSpc>
                <a:spcPct val="110000"/>
              </a:lnSpc>
              <a:spcBef>
                <a:spcPts val="0"/>
              </a:spcBef>
            </a:pPr>
            <a:r>
              <a:rPr lang="en-US" sz="1800" b="1" dirty="0">
                <a:solidFill>
                  <a:srgbClr val="000000"/>
                </a:solidFill>
                <a:effectLst/>
                <a:latin typeface="Aptos"/>
                <a:ea typeface="Aptos"/>
                <a:cs typeface="Aptos"/>
              </a:rPr>
              <a:t>Master Data-  </a:t>
            </a:r>
            <a:r>
              <a:rPr lang="en-US" sz="1800" dirty="0">
                <a:solidFill>
                  <a:srgbClr val="000000"/>
                </a:solidFill>
                <a:effectLst/>
                <a:latin typeface="Aptos"/>
                <a:ea typeface="Aptos"/>
                <a:cs typeface="Aptos"/>
              </a:rPr>
              <a:t>The core entities of a business that don’t change often</a:t>
            </a:r>
            <a:r>
              <a:rPr lang="en-US" sz="1800" dirty="0">
                <a:solidFill>
                  <a:srgbClr val="000000"/>
                </a:solidFill>
                <a:effectLst/>
                <a:latin typeface="Arimo"/>
                <a:ea typeface="Arimo"/>
                <a:cs typeface="Arimo"/>
              </a:rPr>
              <a:t> </a:t>
            </a:r>
            <a:endParaRPr lang="en-US" sz="1800" dirty="0">
              <a:effectLst/>
              <a:latin typeface="Calibri" panose="020F050202020403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>
              <a:lnSpc>
                <a:spcPct val="110000"/>
              </a:lnSpc>
              <a:spcBef>
                <a:spcPts val="0"/>
              </a:spcBef>
            </a:pPr>
            <a:r>
              <a:rPr lang="en-US" sz="1300" dirty="0">
                <a:solidFill>
                  <a:srgbClr val="000000"/>
                </a:solidFill>
                <a:effectLst/>
                <a:latin typeface="Aptos"/>
                <a:ea typeface="Aptos"/>
                <a:cs typeface="Aptos"/>
              </a:rPr>
              <a:t>(employee lists, product catalogs, and vendor information)</a:t>
            </a:r>
            <a:r>
              <a:rPr lang="en-US" sz="1300" dirty="0">
                <a:solidFill>
                  <a:srgbClr val="000000"/>
                </a:solidFill>
                <a:effectLst/>
                <a:latin typeface="Arimo"/>
                <a:ea typeface="Arimo"/>
                <a:cs typeface="Arimo"/>
              </a:rPr>
              <a:t> </a:t>
            </a:r>
            <a:endParaRPr lang="en-US" sz="1300" dirty="0">
              <a:effectLst/>
              <a:latin typeface="Calibri" panose="020F050202020403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algn="l">
              <a:lnSpc>
                <a:spcPct val="1150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sz="1800" b="1" dirty="0">
                <a:solidFill>
                  <a:srgbClr val="000000"/>
                </a:solidFill>
                <a:effectLst/>
                <a:latin typeface="Aptos"/>
                <a:ea typeface="Aptos"/>
                <a:cs typeface="Aptos"/>
              </a:rPr>
              <a:t>Analytical Data</a:t>
            </a:r>
            <a:r>
              <a:rPr lang="en-US" sz="1800" b="1" dirty="0">
                <a:solidFill>
                  <a:srgbClr val="000000"/>
                </a:solidFill>
                <a:latin typeface="Aptos"/>
                <a:ea typeface="Aptos"/>
                <a:cs typeface="Aptos"/>
              </a:rPr>
              <a:t>-</a:t>
            </a:r>
            <a:r>
              <a:rPr lang="en-US" sz="1800" dirty="0">
                <a:solidFill>
                  <a:srgbClr val="000000"/>
                </a:solidFill>
                <a:effectLst/>
                <a:latin typeface="Aptos"/>
                <a:ea typeface="Aptos"/>
                <a:cs typeface="Aptos"/>
              </a:rPr>
              <a:t> Historical information of a company used to spot trends and use in decision making or business intelligent</a:t>
            </a:r>
            <a:r>
              <a:rPr lang="en-US" sz="1800" dirty="0">
                <a:solidFill>
                  <a:srgbClr val="000000"/>
                </a:solidFill>
                <a:effectLst/>
                <a:latin typeface="Arimo"/>
                <a:ea typeface="Arimo"/>
                <a:cs typeface="Arimo"/>
              </a:rPr>
              <a:t> </a:t>
            </a:r>
            <a:endParaRPr lang="en-US" sz="1800" dirty="0">
              <a:effectLst/>
              <a:latin typeface="Calibri" panose="020F050202020403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algn="l">
              <a:lnSpc>
                <a:spcPct val="1150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sz="1800" b="1" dirty="0">
                <a:solidFill>
                  <a:srgbClr val="000000"/>
                </a:solidFill>
                <a:effectLst/>
                <a:latin typeface="Aptos"/>
                <a:ea typeface="Aptos"/>
                <a:cs typeface="Aptos"/>
              </a:rPr>
              <a:t>Unstructured Data</a:t>
            </a:r>
            <a:r>
              <a:rPr lang="en-US" sz="1800" b="1" dirty="0">
                <a:solidFill>
                  <a:srgbClr val="000000"/>
                </a:solidFill>
                <a:latin typeface="Aptos"/>
                <a:ea typeface="Aptos"/>
                <a:cs typeface="Aptos"/>
              </a:rPr>
              <a:t>-</a:t>
            </a:r>
            <a:r>
              <a:rPr lang="en-US" sz="1800" dirty="0">
                <a:solidFill>
                  <a:srgbClr val="000000"/>
                </a:solidFill>
                <a:effectLst/>
                <a:latin typeface="Aptos"/>
                <a:ea typeface="Aptos"/>
                <a:cs typeface="Aptos"/>
              </a:rPr>
              <a:t> emails, internal documents (Memo), audio files, social media review</a:t>
            </a:r>
            <a:r>
              <a:rPr lang="en-US" sz="1800" dirty="0">
                <a:solidFill>
                  <a:srgbClr val="000000"/>
                </a:solidFill>
                <a:effectLst/>
                <a:latin typeface="Arimo"/>
                <a:ea typeface="Arimo"/>
                <a:cs typeface="Arimo"/>
              </a:rPr>
              <a:t> </a:t>
            </a:r>
            <a:endParaRPr lang="en-US" sz="1800" dirty="0">
              <a:effectLst/>
              <a:latin typeface="Calibri" panose="020F050202020403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6EC8163-3D1D-4F51-81D8-737B5AC43F2E}"/>
              </a:ext>
            </a:extLst>
          </p:cNvPr>
          <p:cNvSpPr txBox="1"/>
          <p:nvPr/>
        </p:nvSpPr>
        <p:spPr>
          <a:xfrm>
            <a:off x="1751012" y="839441"/>
            <a:ext cx="9253872" cy="1183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lnSpc>
                <a:spcPct val="1150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sz="1800" b="1" dirty="0">
                <a:solidFill>
                  <a:srgbClr val="000000"/>
                </a:solidFill>
                <a:effectLst/>
                <a:latin typeface="Canva Sans Bold"/>
                <a:ea typeface="Canva Sans Bold"/>
                <a:cs typeface="Canva Sans Bold"/>
              </a:rPr>
              <a:t>WHAT IS DATA?  </a:t>
            </a:r>
            <a:endParaRPr lang="en-US" sz="1800" dirty="0">
              <a:effectLst/>
              <a:latin typeface="Calibri" panose="020F050202020403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>
              <a:lnSpc>
                <a:spcPct val="1150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sz="1800" dirty="0">
                <a:solidFill>
                  <a:srgbClr val="000000"/>
                </a:solidFill>
                <a:effectLst/>
                <a:latin typeface="Aptos"/>
                <a:ea typeface="Aptos"/>
                <a:cs typeface="Aptos"/>
              </a:rPr>
              <a:t>Data [enterprise context] refers to the collection of raw facts, numbers, records, and digital information an organization generates</a:t>
            </a:r>
            <a:r>
              <a:rPr lang="en-US" dirty="0">
                <a:solidFill>
                  <a:srgbClr val="000000"/>
                </a:solidFill>
                <a:latin typeface="Aptos"/>
                <a:ea typeface="Aptos"/>
                <a:cs typeface="Aptos"/>
              </a:rPr>
              <a:t>/</a:t>
            </a:r>
            <a:r>
              <a:rPr lang="en-US" sz="1800" dirty="0">
                <a:solidFill>
                  <a:srgbClr val="000000"/>
                </a:solidFill>
                <a:effectLst/>
                <a:latin typeface="Aptos"/>
                <a:ea typeface="Aptos"/>
                <a:cs typeface="Aptos"/>
              </a:rPr>
              <a:t>collects, </a:t>
            </a:r>
            <a:r>
              <a:rPr lang="en-US" sz="1800" dirty="0" err="1">
                <a:solidFill>
                  <a:srgbClr val="000000"/>
                </a:solidFill>
                <a:effectLst/>
                <a:latin typeface="Aptos"/>
                <a:ea typeface="Aptos"/>
                <a:cs typeface="Aptos"/>
              </a:rPr>
              <a:t>prcesses</a:t>
            </a:r>
            <a:r>
              <a:rPr lang="en-US" sz="1800" dirty="0">
                <a:solidFill>
                  <a:srgbClr val="000000"/>
                </a:solidFill>
                <a:effectLst/>
                <a:latin typeface="Aptos"/>
                <a:ea typeface="Aptos"/>
                <a:cs typeface="Aptos"/>
              </a:rPr>
              <a:t> and stores </a:t>
            </a:r>
            <a:r>
              <a:rPr lang="en-US" sz="1800" dirty="0">
                <a:solidFill>
                  <a:srgbClr val="000000"/>
                </a:solidFill>
                <a:effectLst/>
                <a:latin typeface="Arimo"/>
                <a:ea typeface="Arimo"/>
                <a:cs typeface="Arimo"/>
              </a:rPr>
              <a:t> </a:t>
            </a:r>
            <a:endParaRPr lang="en-US" sz="1800" dirty="0">
              <a:effectLst/>
              <a:latin typeface="Calibri" panose="020F050202020403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066494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2">
            <a:extLst>
              <a:ext uri="{FF2B5EF4-FFF2-40B4-BE49-F238E27FC236}">
                <a16:creationId xmlns:a16="http://schemas.microsoft.com/office/drawing/2014/main" id="{B1981535-B5AA-4E0C-ACE5-925CC19B20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BF97D060-AA7E-4411-BA62-28BD1EBD55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57E607C4-A0A1-44FA-981D-EA3B813963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Drawing 0">
            <a:extLst>
              <a:ext uri="{FF2B5EF4-FFF2-40B4-BE49-F238E27FC236}">
                <a16:creationId xmlns:a16="http://schemas.microsoft.com/office/drawing/2014/main" id="{FBA10A00-2A36-BAA8-2A47-9790709127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3467" y="1316143"/>
            <a:ext cx="10905066" cy="4225713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08D97526-B9D9-4257-B6A9-9D79889749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251738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39126C-04A9-4F51-8EB5-876E3433C1F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51012" y="2732772"/>
            <a:ext cx="8689976" cy="1249910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IMPORTANCE OF DATA TO AN ORGANISATION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16373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1">
                <a:tint val="90000"/>
                <a:lumMod val="110000"/>
              </a:schemeClr>
            </a:gs>
            <a:gs pos="100000">
              <a:schemeClr val="bg1">
                <a:shade val="64000"/>
                <a:lumMod val="88000"/>
              </a:scheme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48EC41B9-2D25-48A6-BC40-DA8F79F3EB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CF83131-FC2D-4400-50FA-C0A84A5828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3491" y="638762"/>
            <a:ext cx="9017099" cy="4238037"/>
          </a:xfrm>
          <a:prstGeom prst="roundRect">
            <a:avLst>
              <a:gd name="adj" fmla="val 5301"/>
            </a:avLst>
          </a:prstGeom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F8F21547-A433-450A-B2A3-930DCFABD9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1324"/>
          <a:stretch/>
        </p:blipFill>
        <p:spPr>
          <a:xfrm>
            <a:off x="0" y="0"/>
            <a:ext cx="3496235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A39126C-04A9-4F51-8EB5-876E3433C1F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144" y="4876799"/>
            <a:ext cx="10916365" cy="1137554"/>
          </a:xfrm>
        </p:spPr>
        <p:txBody>
          <a:bodyPr>
            <a:noAutofit/>
          </a:bodyPr>
          <a:lstStyle/>
          <a:p>
            <a:r>
              <a:rPr lang="en-US" sz="1600" i="1" cap="small" dirty="0">
                <a:latin typeface="Aptos" panose="020B0004020202020204" pitchFamily="34" charset="0"/>
              </a:rPr>
              <a:t>Impact: data-driven organizations are 5-6% more productive and 6% more profitable than competitors (</a:t>
            </a:r>
            <a:r>
              <a:rPr lang="en-US" sz="1600" i="1" cap="small" dirty="0" err="1">
                <a:latin typeface="Aptos" panose="020B0004020202020204" pitchFamily="34" charset="0"/>
              </a:rPr>
              <a:t>mit</a:t>
            </a:r>
            <a:r>
              <a:rPr lang="en-US" sz="1600" i="1" cap="small" dirty="0">
                <a:latin typeface="Aptos" panose="020B0004020202020204" pitchFamily="34" charset="0"/>
              </a:rPr>
              <a:t> </a:t>
            </a:r>
            <a:r>
              <a:rPr lang="en-US" sz="1600" i="1" cap="small" dirty="0" err="1">
                <a:latin typeface="Aptos" panose="020B0004020202020204" pitchFamily="34" charset="0"/>
              </a:rPr>
              <a:t>sloan</a:t>
            </a:r>
            <a:r>
              <a:rPr lang="en-US" sz="1600" i="1" cap="small" dirty="0">
                <a:latin typeface="Aptos" panose="020B0004020202020204" pitchFamily="34" charset="0"/>
              </a:rPr>
              <a:t>). 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A73B520B-D7E7-436A-B263-0682940B4F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1810" r="21258"/>
          <a:stretch/>
        </p:blipFill>
        <p:spPr>
          <a:xfrm>
            <a:off x="0" y="4238951"/>
            <a:ext cx="9600237" cy="2619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86137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1">
                <a:tint val="90000"/>
                <a:lumMod val="110000"/>
              </a:schemeClr>
            </a:gs>
            <a:gs pos="100000">
              <a:schemeClr val="bg1">
                <a:shade val="64000"/>
                <a:lumMod val="88000"/>
              </a:scheme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1" name="Rectangle 1030">
            <a:extLst>
              <a:ext uri="{FF2B5EF4-FFF2-40B4-BE49-F238E27FC236}">
                <a16:creationId xmlns:a16="http://schemas.microsoft.com/office/drawing/2014/main" id="{45873676-3D69-48B0-BA02-D759766A90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33" name="Picture 2">
            <a:extLst>
              <a:ext uri="{FF2B5EF4-FFF2-40B4-BE49-F238E27FC236}">
                <a16:creationId xmlns:a16="http://schemas.microsoft.com/office/drawing/2014/main" id="{248E96D7-6599-4607-9958-FD9E100013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178B8F0F-1FEA-D27C-01F6-57DAEC5B47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777" b="27527"/>
          <a:stretch>
            <a:fillRect/>
          </a:stretch>
        </p:blipFill>
        <p:spPr bwMode="auto">
          <a:xfrm>
            <a:off x="20" y="-1"/>
            <a:ext cx="12191980" cy="41877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035" name="Straight Connector 1034">
            <a:extLst>
              <a:ext uri="{FF2B5EF4-FFF2-40B4-BE49-F238E27FC236}">
                <a16:creationId xmlns:a16="http://schemas.microsoft.com/office/drawing/2014/main" id="{99478AA5-D1D0-4B5E-9FDE-6F55026DA3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4229100"/>
            <a:ext cx="12192000" cy="0"/>
          </a:xfrm>
          <a:prstGeom prst="line">
            <a:avLst/>
          </a:prstGeom>
          <a:ln w="82550" cap="sq">
            <a:solidFill>
              <a:srgbClr val="D9D9D9"/>
            </a:solidFill>
            <a:miter lim="800000"/>
          </a:ln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BFBFBF"/>
            </a:contourClr>
          </a:sp3d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37" name="Picture 1036">
            <a:extLst>
              <a:ext uri="{FF2B5EF4-FFF2-40B4-BE49-F238E27FC236}">
                <a16:creationId xmlns:a16="http://schemas.microsoft.com/office/drawing/2014/main" id="{3CA8EEE2-DA9A-4635-9B41-33EB565145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A39126C-04A9-4F51-8EB5-876E3433C1F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6048" y="4437888"/>
            <a:ext cx="9899904" cy="1116711"/>
          </a:xfrm>
        </p:spPr>
        <p:txBody>
          <a:bodyPr>
            <a:normAutofit/>
          </a:bodyPr>
          <a:lstStyle/>
          <a:p>
            <a:r>
              <a:rPr lang="en-US" sz="3700" b="1" dirty="0"/>
              <a:t>CUSTOMER UNDERSTANDING &amp; PERSONALIZATION </a:t>
            </a:r>
            <a:endParaRPr lang="en-US" sz="3700" dirty="0">
              <a:latin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25185405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1">
                <a:tint val="90000"/>
                <a:lumMod val="110000"/>
              </a:schemeClr>
            </a:gs>
            <a:gs pos="100000">
              <a:schemeClr val="bg1">
                <a:shade val="64000"/>
                <a:lumMod val="88000"/>
              </a:scheme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55" name="Rectangle 2054">
            <a:extLst>
              <a:ext uri="{FF2B5EF4-FFF2-40B4-BE49-F238E27FC236}">
                <a16:creationId xmlns:a16="http://schemas.microsoft.com/office/drawing/2014/main" id="{7E2BA2D5-46A3-46C0-98C9-A072D543B3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F2385AD4-EBB2-7E4A-735A-4C00C9C374E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960120" y="1430510"/>
            <a:ext cx="6002432" cy="3994345"/>
          </a:xfrm>
          <a:prstGeom prst="roundRect">
            <a:avLst>
              <a:gd name="adj" fmla="val 5301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7" name="Picture 2056">
            <a:extLst>
              <a:ext uri="{FF2B5EF4-FFF2-40B4-BE49-F238E27FC236}">
                <a16:creationId xmlns:a16="http://schemas.microsoft.com/office/drawing/2014/main" id="{3573895B-DA42-4260-AE1E-182BA41232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A39126C-04A9-4F51-8EB5-876E3433C1F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570382" y="957486"/>
            <a:ext cx="3707844" cy="3131913"/>
          </a:xfrm>
        </p:spPr>
        <p:txBody>
          <a:bodyPr>
            <a:normAutofit/>
          </a:bodyPr>
          <a:lstStyle/>
          <a:p>
            <a:r>
              <a:rPr lang="en-US" sz="4400" b="1"/>
              <a:t>OPERATIONAL EFFICIENCY &amp; COST REDUCTION </a:t>
            </a:r>
            <a:endParaRPr lang="en-US" sz="4400">
              <a:latin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6693245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1">
                <a:tint val="90000"/>
                <a:lumMod val="110000"/>
              </a:schemeClr>
            </a:gs>
            <a:gs pos="100000">
              <a:schemeClr val="bg1">
                <a:shade val="64000"/>
                <a:lumMod val="88000"/>
              </a:scheme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079" name="Rectangle 3078">
            <a:extLst>
              <a:ext uri="{FF2B5EF4-FFF2-40B4-BE49-F238E27FC236}">
                <a16:creationId xmlns:a16="http://schemas.microsoft.com/office/drawing/2014/main" id="{2255CADE-DCE0-447F-B290-2AE78E5E55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D8434597-CE07-6504-27C9-6922AD7E7C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50000"/>
                    </a14:imgEffect>
                    <a14:imgEffect>
                      <a14:brightnessContrast bright="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9561" r="12443" b="-1"/>
          <a:stretch>
            <a:fillRect/>
          </a:stretch>
        </p:blipFill>
        <p:spPr bwMode="auto">
          <a:xfrm>
            <a:off x="8860" y="10"/>
            <a:ext cx="6924201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81" name="Rectangle 3080">
            <a:extLst>
              <a:ext uri="{FF2B5EF4-FFF2-40B4-BE49-F238E27FC236}">
                <a16:creationId xmlns:a16="http://schemas.microsoft.com/office/drawing/2014/main" id="{4245587C-701C-48A1-9B6B-10C3DF81A8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933061" y="-2"/>
            <a:ext cx="81313" cy="6858002"/>
          </a:xfrm>
          <a:prstGeom prst="rect">
            <a:avLst/>
          </a:prstGeom>
          <a:gradFill flip="none" rotWithShape="1">
            <a:gsLst>
              <a:gs pos="84000">
                <a:srgbClr val="B5B5B5"/>
              </a:gs>
              <a:gs pos="60159">
                <a:srgbClr val="D5D5D5"/>
              </a:gs>
              <a:gs pos="50447">
                <a:srgbClr val="E6E6E6"/>
              </a:gs>
              <a:gs pos="44260">
                <a:srgbClr val="D5D5D5"/>
              </a:gs>
              <a:gs pos="15928">
                <a:srgbClr val="B5B5B5"/>
              </a:gs>
              <a:gs pos="7000">
                <a:srgbClr val="8A8A8A"/>
              </a:gs>
              <a:gs pos="0">
                <a:srgbClr val="BBBBBB"/>
              </a:gs>
              <a:gs pos="93000">
                <a:srgbClr val="8A8A8A"/>
              </a:gs>
              <a:gs pos="100000">
                <a:srgbClr val="BBBBBB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083" name="Picture 3082">
            <a:extLst>
              <a:ext uri="{FF2B5EF4-FFF2-40B4-BE49-F238E27FC236}">
                <a16:creationId xmlns:a16="http://schemas.microsoft.com/office/drawing/2014/main" id="{2E5CF545-7AAF-4A13-8871-089E929E85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A39126C-04A9-4F51-8EB5-876E3433C1F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570382" y="1358901"/>
            <a:ext cx="3707844" cy="2730498"/>
          </a:xfrm>
        </p:spPr>
        <p:txBody>
          <a:bodyPr>
            <a:normAutofit/>
          </a:bodyPr>
          <a:lstStyle/>
          <a:p>
            <a:r>
              <a:rPr lang="en-US" sz="4100" b="1"/>
              <a:t>RISK MANAGEMENT &amp; SECURITY </a:t>
            </a:r>
            <a:endParaRPr lang="en-US" sz="4100">
              <a:latin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6794798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1">
                <a:tint val="90000"/>
                <a:lumMod val="110000"/>
              </a:schemeClr>
            </a:gs>
            <a:gs pos="100000">
              <a:schemeClr val="bg1">
                <a:shade val="64000"/>
                <a:lumMod val="88000"/>
              </a:scheme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103" name="Rectangle 4102">
            <a:extLst>
              <a:ext uri="{FF2B5EF4-FFF2-40B4-BE49-F238E27FC236}">
                <a16:creationId xmlns:a16="http://schemas.microsoft.com/office/drawing/2014/main" id="{31CA2540-FD07-4286-91E4-8D0DE4E509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A39126C-04A9-4F51-8EB5-876E3433C1F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76520" y="1112979"/>
            <a:ext cx="4328819" cy="2509213"/>
          </a:xfrm>
        </p:spPr>
        <p:txBody>
          <a:bodyPr>
            <a:normAutofit/>
          </a:bodyPr>
          <a:lstStyle/>
          <a:p>
            <a:r>
              <a:rPr lang="en-US" b="1" dirty="0"/>
              <a:t>INNOVATION &amp; PRODUCT DEVELOPMENT </a:t>
            </a:r>
            <a:r>
              <a:rPr lang="en-US" b="1" dirty="0">
                <a:effectLst/>
                <a:latin typeface="Canva Sans Bold"/>
                <a:ea typeface="Canva Sans Bold"/>
                <a:cs typeface="Canva Sans Bold"/>
              </a:rPr>
              <a:t> </a:t>
            </a:r>
            <a:endParaRPr lang="en-US" dirty="0">
              <a:latin typeface="Aptos"/>
            </a:endParaRPr>
          </a:p>
        </p:txBody>
      </p:sp>
      <p:pic>
        <p:nvPicPr>
          <p:cNvPr id="4105" name="Picture 4104">
            <a:extLst>
              <a:ext uri="{FF2B5EF4-FFF2-40B4-BE49-F238E27FC236}">
                <a16:creationId xmlns:a16="http://schemas.microsoft.com/office/drawing/2014/main" id="{214924F5-CDC2-4DFA-82F3-4843ADD678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5295" t="89389" r="26987" b="24"/>
          <a:stretch/>
        </p:blipFill>
        <p:spPr>
          <a:xfrm flipH="1">
            <a:off x="0" y="-1"/>
            <a:ext cx="2596444" cy="872709"/>
          </a:xfrm>
          <a:prstGeom prst="rect">
            <a:avLst/>
          </a:prstGeom>
        </p:spPr>
      </p:pic>
      <p:pic>
        <p:nvPicPr>
          <p:cNvPr id="4107" name="Picture 4106">
            <a:extLst>
              <a:ext uri="{FF2B5EF4-FFF2-40B4-BE49-F238E27FC236}">
                <a16:creationId xmlns:a16="http://schemas.microsoft.com/office/drawing/2014/main" id="{AED59812-6820-446C-B994-0D059C97DC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1927" t="72411" b="13751"/>
          <a:stretch/>
        </p:blipFill>
        <p:spPr>
          <a:xfrm>
            <a:off x="10473994" y="5564567"/>
            <a:ext cx="1341545" cy="1293433"/>
          </a:xfrm>
          <a:custGeom>
            <a:avLst/>
            <a:gdLst>
              <a:gd name="connsiteX0" fmla="*/ 0 w 1341545"/>
              <a:gd name="connsiteY0" fmla="*/ 0 h 1293433"/>
              <a:gd name="connsiteX1" fmla="*/ 1341545 w 1341545"/>
              <a:gd name="connsiteY1" fmla="*/ 0 h 1293433"/>
              <a:gd name="connsiteX2" fmla="*/ 1341545 w 1341545"/>
              <a:gd name="connsiteY2" fmla="*/ 1293433 h 1293433"/>
              <a:gd name="connsiteX3" fmla="*/ 150847 w 1341545"/>
              <a:gd name="connsiteY3" fmla="*/ 1293433 h 1293433"/>
              <a:gd name="connsiteX4" fmla="*/ 66240 w 1341545"/>
              <a:gd name="connsiteY4" fmla="*/ 1183451 h 1293433"/>
              <a:gd name="connsiteX5" fmla="*/ 0 w 1341545"/>
              <a:gd name="connsiteY5" fmla="*/ 1061841 h 1293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341545" h="1293433">
                <a:moveTo>
                  <a:pt x="0" y="0"/>
                </a:moveTo>
                <a:lnTo>
                  <a:pt x="1341545" y="0"/>
                </a:lnTo>
                <a:lnTo>
                  <a:pt x="1341545" y="1293433"/>
                </a:lnTo>
                <a:lnTo>
                  <a:pt x="150847" y="1293433"/>
                </a:lnTo>
                <a:lnTo>
                  <a:pt x="66240" y="1183451"/>
                </a:lnTo>
                <a:lnTo>
                  <a:pt x="0" y="1061841"/>
                </a:lnTo>
                <a:close/>
              </a:path>
            </a:pathLst>
          </a:custGeom>
        </p:spPr>
      </p:pic>
      <p:pic>
        <p:nvPicPr>
          <p:cNvPr id="4098" name="Picture 2">
            <a:extLst>
              <a:ext uri="{FF2B5EF4-FFF2-40B4-BE49-F238E27FC236}">
                <a16:creationId xmlns:a16="http://schemas.microsoft.com/office/drawing/2014/main" id="{3218FE1D-0A99-3BEF-D0EE-EA43492309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4497811" y="589103"/>
            <a:ext cx="7591142" cy="46305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9" name="Picture 4108">
            <a:extLst>
              <a:ext uri="{FF2B5EF4-FFF2-40B4-BE49-F238E27FC236}">
                <a16:creationId xmlns:a16="http://schemas.microsoft.com/office/drawing/2014/main" id="{E844ED7C-1917-40D8-8B42-1B1C27BC5A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623" t="43915" r="1" b="18252"/>
          <a:stretch/>
        </p:blipFill>
        <p:spPr>
          <a:xfrm flipH="1">
            <a:off x="0" y="3142319"/>
            <a:ext cx="4605339" cy="37156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69636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1">
                <a:tint val="90000"/>
                <a:lumMod val="110000"/>
              </a:schemeClr>
            </a:gs>
            <a:gs pos="100000">
              <a:schemeClr val="bg1">
                <a:shade val="64000"/>
                <a:lumMod val="88000"/>
              </a:scheme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132" name="Rectangle 5131">
            <a:extLst>
              <a:ext uri="{FF2B5EF4-FFF2-40B4-BE49-F238E27FC236}">
                <a16:creationId xmlns:a16="http://schemas.microsoft.com/office/drawing/2014/main" id="{45873676-3D69-48B0-BA02-D759766A90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134" name="Picture 2">
            <a:extLst>
              <a:ext uri="{FF2B5EF4-FFF2-40B4-BE49-F238E27FC236}">
                <a16:creationId xmlns:a16="http://schemas.microsoft.com/office/drawing/2014/main" id="{248E96D7-6599-4607-9958-FD9E100013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>
            <a:extLst>
              <a:ext uri="{FF2B5EF4-FFF2-40B4-BE49-F238E27FC236}">
                <a16:creationId xmlns:a16="http://schemas.microsoft.com/office/drawing/2014/main" id="{3499DE4B-B9BD-7A5F-DE69-BE19960878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4526" b="1866"/>
          <a:stretch>
            <a:fillRect/>
          </a:stretch>
        </p:blipFill>
        <p:spPr bwMode="auto">
          <a:xfrm>
            <a:off x="20" y="-1"/>
            <a:ext cx="12191980" cy="41877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5131" name="Straight Connector 5130">
            <a:extLst>
              <a:ext uri="{FF2B5EF4-FFF2-40B4-BE49-F238E27FC236}">
                <a16:creationId xmlns:a16="http://schemas.microsoft.com/office/drawing/2014/main" id="{99478AA5-D1D0-4B5E-9FDE-6F55026DA3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4229100"/>
            <a:ext cx="12192000" cy="0"/>
          </a:xfrm>
          <a:prstGeom prst="line">
            <a:avLst/>
          </a:prstGeom>
          <a:ln w="82550" cap="sq">
            <a:solidFill>
              <a:srgbClr val="D9D9D9"/>
            </a:solidFill>
            <a:miter lim="800000"/>
          </a:ln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BFBFBF"/>
            </a:contourClr>
          </a:sp3d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133" name="Picture 5132">
            <a:extLst>
              <a:ext uri="{FF2B5EF4-FFF2-40B4-BE49-F238E27FC236}">
                <a16:creationId xmlns:a16="http://schemas.microsoft.com/office/drawing/2014/main" id="{3CA8EEE2-DA9A-4635-9B41-33EB565145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A39126C-04A9-4F51-8EB5-876E3433C1F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6048" y="4437888"/>
            <a:ext cx="9899904" cy="1116711"/>
          </a:xfrm>
        </p:spPr>
        <p:txBody>
          <a:bodyPr>
            <a:normAutofit/>
          </a:bodyPr>
          <a:lstStyle/>
          <a:p>
            <a:r>
              <a:rPr lang="en-US" b="1"/>
              <a:t>COMPETITIVE ADVANTAGE </a:t>
            </a:r>
            <a:r>
              <a:rPr lang="en-US" b="1">
                <a:effectLst/>
                <a:latin typeface="Canva Sans Bold"/>
                <a:ea typeface="Canva Sans Bold"/>
                <a:cs typeface="Canva Sans Bold"/>
              </a:rPr>
              <a:t> </a:t>
            </a:r>
            <a:endParaRPr lang="en-US">
              <a:latin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12120264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39126C-04A9-4F51-8EB5-876E3433C1F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60385" y="595221"/>
            <a:ext cx="10860657" cy="813193"/>
          </a:xfrm>
        </p:spPr>
        <p:txBody>
          <a:bodyPr>
            <a:normAutofit fontScale="90000"/>
          </a:bodyPr>
          <a:lstStyle/>
          <a:p>
            <a:pPr algn="l"/>
            <a:r>
              <a:rPr lang="en-US" b="1" dirty="0"/>
              <a:t>REVENUE GENERATION &amp; MONETIZATION </a:t>
            </a:r>
            <a:endParaRPr lang="en-US" sz="4000" dirty="0">
              <a:latin typeface="Aptos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A6104B2-1187-C878-7D14-3DEE5E3330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1792" y="1796603"/>
            <a:ext cx="10570208" cy="50613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492550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39126C-04A9-4F51-8EB5-876E3433C1F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114" y="679684"/>
            <a:ext cx="8689976" cy="1249910"/>
          </a:xfrm>
        </p:spPr>
        <p:txBody>
          <a:bodyPr>
            <a:normAutofit fontScale="90000"/>
          </a:bodyPr>
          <a:lstStyle/>
          <a:p>
            <a:pPr algn="l"/>
            <a:r>
              <a:rPr lang="en-US" b="1" dirty="0"/>
              <a:t>REGULATORY COMPLIANCE &amp; LEGAL PROTECTION </a:t>
            </a:r>
            <a:endParaRPr lang="en-US" sz="4000" dirty="0">
              <a:latin typeface="Aptos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55EB2EC-99B0-8667-99A0-F8F6914E71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2966" y="1781174"/>
            <a:ext cx="8469033" cy="5076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46740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1">
                <a:tint val="90000"/>
                <a:lumMod val="110000"/>
              </a:schemeClr>
            </a:gs>
            <a:gs pos="100000">
              <a:schemeClr val="bg1">
                <a:shade val="64000"/>
                <a:lumMod val="88000"/>
              </a:scheme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151" name="Rectangle 6150">
            <a:extLst>
              <a:ext uri="{FF2B5EF4-FFF2-40B4-BE49-F238E27FC236}">
                <a16:creationId xmlns:a16="http://schemas.microsoft.com/office/drawing/2014/main" id="{7E2BA2D5-46A3-46C0-98C9-A072D543B3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25252CFA-2345-053C-91D5-A2201D4C77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960120" y="1424371"/>
            <a:ext cx="6002432" cy="4006623"/>
          </a:xfrm>
          <a:prstGeom prst="roundRect">
            <a:avLst>
              <a:gd name="adj" fmla="val 5301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53" name="Picture 6152">
            <a:extLst>
              <a:ext uri="{FF2B5EF4-FFF2-40B4-BE49-F238E27FC236}">
                <a16:creationId xmlns:a16="http://schemas.microsoft.com/office/drawing/2014/main" id="{3573895B-DA42-4260-AE1E-182BA41232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A39126C-04A9-4F51-8EB5-876E3433C1F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570382" y="957486"/>
            <a:ext cx="3707844" cy="3131913"/>
          </a:xfrm>
        </p:spPr>
        <p:txBody>
          <a:bodyPr>
            <a:normAutofit/>
          </a:bodyPr>
          <a:lstStyle/>
          <a:p>
            <a:r>
              <a:rPr lang="en-US" b="1" dirty="0"/>
              <a:t>CRISIS RESPONSE &amp; BUSINESS CONTINUITY </a:t>
            </a:r>
            <a:endParaRPr lang="en-US">
              <a:latin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83442532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39126C-04A9-4F51-8EB5-876E3433C1F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59306" y="412266"/>
            <a:ext cx="8689976" cy="1249910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The Hidden Costs of Ignoring Data </a:t>
            </a:r>
            <a:endParaRPr lang="en-US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C35ADB89-F004-0AE5-EEF8-FF28C99E5ED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2591527"/>
              </p:ext>
            </p:extLst>
          </p:nvPr>
        </p:nvGraphicFramePr>
        <p:xfrm>
          <a:off x="1259306" y="2091875"/>
          <a:ext cx="9250363" cy="4018503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840985">
                  <a:extLst>
                    <a:ext uri="{9D8B030D-6E8A-4147-A177-3AD203B41FA5}">
                      <a16:colId xmlns:a16="http://schemas.microsoft.com/office/drawing/2014/main" val="3615915520"/>
                    </a:ext>
                  </a:extLst>
                </a:gridCol>
                <a:gridCol w="6409378">
                  <a:extLst>
                    <a:ext uri="{9D8B030D-6E8A-4147-A177-3AD203B41FA5}">
                      <a16:colId xmlns:a16="http://schemas.microsoft.com/office/drawing/2014/main" val="4233509161"/>
                    </a:ext>
                  </a:extLst>
                </a:gridCol>
              </a:tblGrid>
              <a:tr h="1339501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62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2000" kern="100">
                          <a:effectLst/>
                        </a:rPr>
                        <a:t>Compliance fines </a:t>
                      </a:r>
                    </a:p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2000" kern="100">
                          <a:effectLst/>
                        </a:rPr>
                        <a:t> </a:t>
                      </a:r>
                      <a:endParaRPr lang="en-US" sz="2000" kern="100">
                        <a:effectLst/>
                        <a:latin typeface="Aptos" panose="020B00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62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2000" kern="100">
                          <a:effectLst/>
                        </a:rPr>
                        <a:t>Missing audit trails → millions in penalties </a:t>
                      </a:r>
                    </a:p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2000" kern="100">
                          <a:effectLst/>
                        </a:rPr>
                        <a:t> </a:t>
                      </a:r>
                      <a:endParaRPr lang="en-US" sz="2000" kern="100">
                        <a:effectLst/>
                        <a:latin typeface="Aptos" panose="020B00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/>
                </a:tc>
                <a:extLst>
                  <a:ext uri="{0D108BD9-81ED-4DB2-BD59-A6C34878D82A}">
                    <a16:rowId xmlns:a16="http://schemas.microsoft.com/office/drawing/2014/main" val="3967794218"/>
                  </a:ext>
                </a:extLst>
              </a:tr>
              <a:tr h="1339501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62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2000" kern="100">
                          <a:effectLst/>
                        </a:rPr>
                        <a:t>Security breaches </a:t>
                      </a:r>
                    </a:p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2000" kern="100">
                          <a:effectLst/>
                        </a:rPr>
                        <a:t> </a:t>
                      </a:r>
                      <a:endParaRPr lang="en-US" sz="2000" kern="100">
                        <a:effectLst/>
                        <a:latin typeface="Aptos" panose="020B00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62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2000" kern="100">
                          <a:effectLst/>
                        </a:rPr>
                        <a:t>No log monitoring → breach undetected for 6+ months </a:t>
                      </a:r>
                    </a:p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2000" kern="100">
                          <a:effectLst/>
                        </a:rPr>
                        <a:t> </a:t>
                      </a:r>
                      <a:endParaRPr lang="en-US" sz="2000" kern="100">
                        <a:effectLst/>
                        <a:latin typeface="Aptos" panose="020B00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/>
                </a:tc>
                <a:extLst>
                  <a:ext uri="{0D108BD9-81ED-4DB2-BD59-A6C34878D82A}">
                    <a16:rowId xmlns:a16="http://schemas.microsoft.com/office/drawing/2014/main" val="1017173354"/>
                  </a:ext>
                </a:extLst>
              </a:tr>
              <a:tr h="1339501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62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2000" kern="100">
                          <a:effectLst/>
                        </a:rPr>
                        <a:t>Losing to competitors </a:t>
                      </a:r>
                    </a:p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2000" kern="100">
                          <a:effectLst/>
                        </a:rPr>
                        <a:t> </a:t>
                      </a:r>
                      <a:endParaRPr lang="en-US" sz="2000" kern="100">
                        <a:effectLst/>
                        <a:latin typeface="Aptos" panose="020B00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62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2000" kern="100" dirty="0">
                          <a:effectLst/>
                        </a:rPr>
                        <a:t>Data-driven rivals move 5x faster </a:t>
                      </a:r>
                    </a:p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2000" kern="100" dirty="0">
                          <a:effectLst/>
                        </a:rPr>
                        <a:t> </a:t>
                      </a:r>
                      <a:endParaRPr lang="en-US" sz="2000" kern="100" dirty="0">
                        <a:effectLst/>
                        <a:latin typeface="Aptos" panose="020B00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/>
                </a:tc>
                <a:extLst>
                  <a:ext uri="{0D108BD9-81ED-4DB2-BD59-A6C34878D82A}">
                    <a16:rowId xmlns:a16="http://schemas.microsoft.com/office/drawing/2014/main" val="16332198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162692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39126C-04A9-4F51-8EB5-876E3433C1F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54196" y="699648"/>
            <a:ext cx="8689976" cy="730522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SECURITY RISK RELATED WITH DATA 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C278A66-6C2B-4CC8-B216-ED850C6A8F3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03115" y="1923465"/>
            <a:ext cx="10487602" cy="4234887"/>
          </a:xfrm>
        </p:spPr>
        <p:txBody>
          <a:bodyPr>
            <a:normAutofit/>
          </a:bodyPr>
          <a:lstStyle/>
          <a:p>
            <a:pPr marL="342900" lvl="0" indent="-342900" algn="l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Unauthorized access (confidentiality)  </a:t>
            </a:r>
          </a:p>
          <a:p>
            <a:pPr marL="342900" lvl="0" indent="-342900" algn="l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Tampering (integrity)  </a:t>
            </a:r>
          </a:p>
          <a:p>
            <a:pPr marL="342900" lvl="0" indent="-342900" algn="l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Inaccessibility (availability)  </a:t>
            </a:r>
          </a:p>
          <a:p>
            <a:pPr marL="342900" lvl="0" indent="-342900" algn="l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Data leakage  </a:t>
            </a:r>
          </a:p>
          <a:p>
            <a:pPr marL="342900" lvl="0" indent="-342900" algn="l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Data theft  </a:t>
            </a:r>
          </a:p>
          <a:p>
            <a:pPr marL="342900" lvl="0" indent="-342900" algn="l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Data compliance violations — which could lead to financial loss, legal, and reputational damage </a:t>
            </a:r>
          </a:p>
          <a:p>
            <a:pPr marL="342900" marR="0" indent="-342900" algn="l">
              <a:lnSpc>
                <a:spcPct val="115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2439918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39126C-04A9-4F51-8EB5-876E3433C1F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58830" y="149013"/>
            <a:ext cx="2674339" cy="721896"/>
          </a:xfrm>
        </p:spPr>
        <p:txBody>
          <a:bodyPr>
            <a:normAutofit/>
          </a:bodyPr>
          <a:lstStyle/>
          <a:p>
            <a:r>
              <a:rPr lang="en-US" sz="4000" b="1" dirty="0">
                <a:solidFill>
                  <a:srgbClr val="000000"/>
                </a:solidFill>
                <a:effectLst/>
                <a:latin typeface="Canva Sans Bold"/>
                <a:ea typeface="Canva Sans Bold"/>
                <a:cs typeface="Canva Sans Bold"/>
              </a:rPr>
              <a:t>Data leaks</a:t>
            </a:r>
            <a:endParaRPr lang="en-US" sz="4000" dirty="0">
              <a:latin typeface="Aptos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53039A3-5E5D-F784-4EDF-E2E4DB6FFE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52" y="870909"/>
            <a:ext cx="12165366" cy="59870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069522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39126C-04A9-4F51-8EB5-876E3433C1F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0"/>
            <a:ext cx="8689976" cy="1249910"/>
          </a:xfrm>
        </p:spPr>
        <p:txBody>
          <a:bodyPr>
            <a:normAutofit/>
          </a:bodyPr>
          <a:lstStyle/>
          <a:p>
            <a:pPr algn="l"/>
            <a:r>
              <a:rPr lang="en-US" b="1" dirty="0"/>
              <a:t>DATA PROTECTION(SECURITY) </a:t>
            </a:r>
            <a:r>
              <a:rPr lang="en-US" sz="4000" b="1" dirty="0">
                <a:solidFill>
                  <a:srgbClr val="000000"/>
                </a:solidFill>
                <a:effectLst/>
                <a:latin typeface="Canva Sans Bold"/>
                <a:ea typeface="Canva Sans Bold"/>
                <a:cs typeface="Canva Sans Bold"/>
              </a:rPr>
              <a:t> </a:t>
            </a:r>
            <a:endParaRPr lang="en-US" sz="4000" dirty="0">
              <a:latin typeface="Aptos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44EDE0C-7806-034B-C5FD-70DA056707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6300" y="1923679"/>
            <a:ext cx="10745700" cy="49155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466881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39126C-04A9-4F51-8EB5-876E3433C1F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51012" y="948904"/>
            <a:ext cx="8689976" cy="627005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RESEARCH REVIEW On causes of DATA LEAKS </a:t>
            </a:r>
            <a:endParaRPr lang="en-US" dirty="0"/>
          </a:p>
        </p:txBody>
      </p:sp>
      <p:pic>
        <p:nvPicPr>
          <p:cNvPr id="6" name="Drawing 1">
            <a:extLst>
              <a:ext uri="{FF2B5EF4-FFF2-40B4-BE49-F238E27FC236}">
                <a16:creationId xmlns:a16="http://schemas.microsoft.com/office/drawing/2014/main" id="{AD5A3D20-1335-0AF2-E26E-A82C1E1A1D6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2461572" y="2060641"/>
            <a:ext cx="7268856" cy="37535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762810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39126C-04A9-4F51-8EB5-876E3433C1F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51012" y="2910130"/>
            <a:ext cx="8689976" cy="1249910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The ROLE OF SOC IN MITIGATING DATA-LEAKS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4365492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39126C-04A9-4F51-8EB5-876E3433C1F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51012" y="1300786"/>
            <a:ext cx="8689976" cy="1249910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1. Detecting &amp; Preventing Human Error  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C278A66-6C2B-4CC8-B216-ED850C6A8F3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39532" y="2736464"/>
            <a:ext cx="9013241" cy="2707103"/>
          </a:xfrm>
        </p:spPr>
        <p:txBody>
          <a:bodyPr>
            <a:normAutofit fontScale="62500" lnSpcReduction="20000"/>
          </a:bodyPr>
          <a:lstStyle/>
          <a:p>
            <a:pPr algn="l"/>
            <a:r>
              <a:rPr lang="en-US" b="1" dirty="0">
                <a:solidFill>
                  <a:schemeClr val="tx1"/>
                </a:solidFill>
              </a:rPr>
              <a:t>DLP (Data Loss Prevention) monitoring </a:t>
            </a:r>
            <a:endParaRPr lang="en-US" dirty="0">
              <a:solidFill>
                <a:schemeClr val="tx1"/>
              </a:solidFill>
            </a:endParaRPr>
          </a:p>
          <a:p>
            <a:pPr algn="l"/>
            <a:r>
              <a:rPr lang="en-US" dirty="0">
                <a:solidFill>
                  <a:schemeClr val="tx1"/>
                </a:solidFill>
              </a:rPr>
              <a:t>-Alerts when sensitive data is emailed externally, uploaded to personal cloud drives, or copied to USB </a:t>
            </a:r>
          </a:p>
          <a:p>
            <a:pPr algn="l"/>
            <a:r>
              <a:rPr lang="en-US" b="1" dirty="0">
                <a:solidFill>
                  <a:schemeClr val="tx1"/>
                </a:solidFill>
              </a:rPr>
              <a:t>User Entity Behavior Analytics (UEBA) </a:t>
            </a:r>
            <a:endParaRPr lang="en-US" dirty="0">
              <a:solidFill>
                <a:schemeClr val="tx1"/>
              </a:solidFill>
            </a:endParaRPr>
          </a:p>
          <a:p>
            <a:pPr algn="l"/>
            <a:r>
              <a:rPr lang="en-US" dirty="0">
                <a:solidFill>
                  <a:schemeClr val="tx1"/>
                </a:solidFill>
              </a:rPr>
              <a:t>-Flags unusual activity (e.g., an employee downloading 10,000 records at 3 AM) </a:t>
            </a:r>
          </a:p>
          <a:p>
            <a:pPr algn="l"/>
            <a:r>
              <a:rPr lang="en-US" b="1" dirty="0">
                <a:solidFill>
                  <a:schemeClr val="tx1"/>
                </a:solidFill>
              </a:rPr>
              <a:t>Email gateway inspection </a:t>
            </a:r>
            <a:endParaRPr lang="en-US" dirty="0">
              <a:solidFill>
                <a:schemeClr val="tx1"/>
              </a:solidFill>
            </a:endParaRPr>
          </a:p>
          <a:p>
            <a:pPr algn="l"/>
            <a:r>
              <a:rPr lang="en-US" dirty="0">
                <a:solidFill>
                  <a:schemeClr val="tx1"/>
                </a:solidFill>
              </a:rPr>
              <a:t>- Blocks accidental sending of sensitive attachments to wrong recipients </a:t>
            </a:r>
          </a:p>
          <a:p>
            <a:pPr algn="l"/>
            <a:r>
              <a:rPr lang="en-US" b="1" dirty="0">
                <a:solidFill>
                  <a:schemeClr val="tx1"/>
                </a:solidFill>
              </a:rPr>
              <a:t>Endpoint monitoring </a:t>
            </a:r>
            <a:endParaRPr lang="en-US" dirty="0">
              <a:solidFill>
                <a:schemeClr val="tx1"/>
              </a:solidFill>
            </a:endParaRPr>
          </a:p>
          <a:p>
            <a:pPr algn="l"/>
            <a:r>
              <a:rPr lang="en-US" dirty="0">
                <a:solidFill>
                  <a:schemeClr val="tx1"/>
                </a:solidFill>
              </a:rPr>
              <a:t>- Detects when sensitive files are moved to public folders or unencrypted locations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42DFF12-F886-4D5B-1ED4-2E992AA53ABC}"/>
              </a:ext>
            </a:extLst>
          </p:cNvPr>
          <p:cNvSpPr txBox="1"/>
          <p:nvPr/>
        </p:nvSpPr>
        <p:spPr>
          <a:xfrm>
            <a:off x="1266380" y="6013627"/>
            <a:ext cx="107214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i="1" dirty="0">
                <a:solidFill>
                  <a:srgbClr val="000000"/>
                </a:solidFill>
                <a:effectLst/>
                <a:latin typeface="Aptos Italics"/>
                <a:ea typeface="Aptos Italics"/>
                <a:cs typeface="Aptos Italics"/>
              </a:rPr>
              <a:t>Example rule: Alert if a user emails a file containing "PII," "SSN," or "confidential" outside the corporate domain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5139315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75D229-A912-7BC5-D05F-D61E4B4200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7B94C7-4C6B-443A-2C9C-2419933F50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3736" y="1170432"/>
            <a:ext cx="11521440" cy="813336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2. Identifying System Misconfigurations  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53155A4-665F-43BF-2C2E-EA8D66963A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39532" y="2736464"/>
            <a:ext cx="9013241" cy="2707103"/>
          </a:xfrm>
        </p:spPr>
        <p:txBody>
          <a:bodyPr>
            <a:normAutofit fontScale="70000" lnSpcReduction="20000"/>
          </a:bodyPr>
          <a:lstStyle/>
          <a:p>
            <a:pPr algn="l"/>
            <a:r>
              <a:rPr lang="en-US" b="1" dirty="0">
                <a:solidFill>
                  <a:schemeClr val="tx1"/>
                </a:solidFill>
              </a:rPr>
              <a:t>Cloud Security Posture Management (CSPM) </a:t>
            </a:r>
            <a:br>
              <a:rPr lang="en-US" b="1" dirty="0">
                <a:solidFill>
                  <a:schemeClr val="tx1"/>
                </a:solidFill>
              </a:rPr>
            </a:br>
            <a:r>
              <a:rPr lang="en-US" b="1" dirty="0">
                <a:solidFill>
                  <a:schemeClr val="tx1"/>
                </a:solidFill>
              </a:rPr>
              <a:t>- </a:t>
            </a:r>
            <a:r>
              <a:rPr lang="en-US" dirty="0">
                <a:solidFill>
                  <a:schemeClr val="tx1"/>
                </a:solidFill>
              </a:rPr>
              <a:t>Scans for publicly exposed S3 buckets, Azure Blobs, or GCP buckets </a:t>
            </a:r>
          </a:p>
          <a:p>
            <a:pPr algn="l"/>
            <a:r>
              <a:rPr lang="en-US" b="1" dirty="0">
                <a:solidFill>
                  <a:schemeClr val="tx1"/>
                </a:solidFill>
              </a:rPr>
              <a:t>Continuous configuration monitoring </a:t>
            </a:r>
            <a:endParaRPr lang="en-US" dirty="0">
              <a:solidFill>
                <a:schemeClr val="tx1"/>
              </a:solidFill>
            </a:endParaRPr>
          </a:p>
          <a:p>
            <a:pPr algn="l"/>
            <a:r>
              <a:rPr lang="en-US" dirty="0">
                <a:solidFill>
                  <a:schemeClr val="tx1"/>
                </a:solidFill>
              </a:rPr>
              <a:t>- Detects changes like "bucket set to public" or "database open to 0.0.0.0/0" </a:t>
            </a:r>
          </a:p>
          <a:p>
            <a:pPr algn="l"/>
            <a:r>
              <a:rPr lang="en-US" b="1" dirty="0">
                <a:solidFill>
                  <a:schemeClr val="tx1"/>
                </a:solidFill>
              </a:rPr>
              <a:t>Vulnerability scanning </a:t>
            </a:r>
            <a:endParaRPr lang="en-US" dirty="0">
              <a:solidFill>
                <a:schemeClr val="tx1"/>
              </a:solidFill>
            </a:endParaRPr>
          </a:p>
          <a:p>
            <a:pPr algn="l"/>
            <a:r>
              <a:rPr lang="en-US" dirty="0">
                <a:solidFill>
                  <a:schemeClr val="tx1"/>
                </a:solidFill>
              </a:rPr>
              <a:t>- Identifies default credentials still in use </a:t>
            </a:r>
          </a:p>
          <a:p>
            <a:pPr algn="l"/>
            <a:r>
              <a:rPr lang="en-US" b="1" dirty="0">
                <a:solidFill>
                  <a:schemeClr val="tx1"/>
                </a:solidFill>
              </a:rPr>
              <a:t>Security misconfiguration playbooks </a:t>
            </a:r>
            <a:endParaRPr lang="en-US" dirty="0">
              <a:solidFill>
                <a:schemeClr val="tx1"/>
              </a:solidFill>
            </a:endParaRPr>
          </a:p>
          <a:p>
            <a:pPr algn="l"/>
            <a:r>
              <a:rPr lang="en-US" dirty="0">
                <a:solidFill>
                  <a:schemeClr val="tx1"/>
                </a:solidFill>
              </a:rPr>
              <a:t>- SOC initiates automated remediation (e.g., closing an open port)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A1C42B7-B896-D3E4-89EF-A230F0FBEA7B}"/>
              </a:ext>
            </a:extLst>
          </p:cNvPr>
          <p:cNvSpPr txBox="1"/>
          <p:nvPr/>
        </p:nvSpPr>
        <p:spPr>
          <a:xfrm>
            <a:off x="1339532" y="5766739"/>
            <a:ext cx="1072140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i="1" dirty="0"/>
              <a:t>Example: SOC tool alerts: *"S3 bucket 'customer-backup' has public read access."* SOC triages, confirms, and initiates fix.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50099302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5367A0-E743-6BCA-8DFC-3281EBA074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D925DD-C393-C87B-4765-23DD3479534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41710" y="477102"/>
            <a:ext cx="9608884" cy="1689302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3. Responding to Phishing Attacks  </a:t>
            </a:r>
            <a:br>
              <a:rPr lang="en-US" dirty="0"/>
            </a:br>
            <a:r>
              <a:rPr lang="en-US" b="1" dirty="0"/>
              <a:t>  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0719A18-7EAC-1C8B-0A5B-3A5E77FF16F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39531" y="1840352"/>
            <a:ext cx="9013241" cy="3664336"/>
          </a:xfrm>
        </p:spPr>
        <p:txBody>
          <a:bodyPr>
            <a:normAutofit fontScale="70000" lnSpcReduction="20000"/>
          </a:bodyPr>
          <a:lstStyle/>
          <a:p>
            <a:pPr algn="l"/>
            <a:r>
              <a:rPr lang="en-US" b="1" dirty="0">
                <a:solidFill>
                  <a:schemeClr val="tx1"/>
                </a:solidFill>
              </a:rPr>
              <a:t>Phishing detection &amp; response </a:t>
            </a:r>
            <a:endParaRPr lang="en-US" dirty="0">
              <a:solidFill>
                <a:schemeClr val="tx1"/>
              </a:solidFill>
            </a:endParaRPr>
          </a:p>
          <a:p>
            <a:pPr algn="l"/>
            <a:r>
              <a:rPr lang="en-US" dirty="0">
                <a:solidFill>
                  <a:schemeClr val="tx1"/>
                </a:solidFill>
              </a:rPr>
              <a:t>- Rapidly identifies compromised credentials from phishing </a:t>
            </a:r>
          </a:p>
          <a:p>
            <a:pPr algn="l"/>
            <a:r>
              <a:rPr lang="en-US" b="1" dirty="0">
                <a:solidFill>
                  <a:schemeClr val="tx1"/>
                </a:solidFill>
              </a:rPr>
              <a:t>Email security monitoring </a:t>
            </a:r>
            <a:endParaRPr lang="en-US" dirty="0">
              <a:solidFill>
                <a:schemeClr val="tx1"/>
              </a:solidFill>
            </a:endParaRPr>
          </a:p>
          <a:p>
            <a:pPr algn="l"/>
            <a:r>
              <a:rPr lang="en-US" dirty="0">
                <a:solidFill>
                  <a:schemeClr val="tx1"/>
                </a:solidFill>
              </a:rPr>
              <a:t>- Blocks malicious links and attachments before they reach users </a:t>
            </a:r>
          </a:p>
          <a:p>
            <a:pPr algn="l"/>
            <a:r>
              <a:rPr lang="en-US" b="1" dirty="0">
                <a:solidFill>
                  <a:schemeClr val="tx1"/>
                </a:solidFill>
              </a:rPr>
              <a:t>Credential theft hunting </a:t>
            </a:r>
            <a:br>
              <a:rPr lang="en-US" b="1" dirty="0">
                <a:solidFill>
                  <a:schemeClr val="tx1"/>
                </a:solidFill>
              </a:rPr>
            </a:br>
            <a:r>
              <a:rPr lang="en-US" b="1" dirty="0">
                <a:solidFill>
                  <a:schemeClr val="tx1"/>
                </a:solidFill>
              </a:rPr>
              <a:t>- </a:t>
            </a:r>
            <a:r>
              <a:rPr lang="en-US" dirty="0">
                <a:solidFill>
                  <a:schemeClr val="tx1"/>
                </a:solidFill>
              </a:rPr>
              <a:t>Checks for logins from unusual locations or devices </a:t>
            </a:r>
          </a:p>
          <a:p>
            <a:pPr algn="l"/>
            <a:r>
              <a:rPr lang="en-US" b="1" dirty="0">
                <a:solidFill>
                  <a:schemeClr val="tx1"/>
                </a:solidFill>
              </a:rPr>
              <a:t>Automated account isolation </a:t>
            </a:r>
            <a:endParaRPr lang="en-US" dirty="0">
              <a:solidFill>
                <a:schemeClr val="tx1"/>
              </a:solidFill>
            </a:endParaRPr>
          </a:p>
          <a:p>
            <a:pPr algn="l"/>
            <a:r>
              <a:rPr lang="en-US" dirty="0">
                <a:solidFill>
                  <a:schemeClr val="tx1"/>
                </a:solidFill>
              </a:rPr>
              <a:t>- Temporarily disables an account suspected of being phished </a:t>
            </a:r>
          </a:p>
          <a:p>
            <a:pPr algn="l"/>
            <a:r>
              <a:rPr lang="en-US" b="1" dirty="0">
                <a:solidFill>
                  <a:schemeClr val="tx1"/>
                </a:solidFill>
              </a:rPr>
              <a:t>SIEM correlation </a:t>
            </a:r>
            <a:endParaRPr lang="en-US" dirty="0">
              <a:solidFill>
                <a:schemeClr val="tx1"/>
              </a:solidFill>
            </a:endParaRPr>
          </a:p>
          <a:p>
            <a:pPr algn="l"/>
            <a:r>
              <a:rPr lang="en-US" dirty="0">
                <a:solidFill>
                  <a:schemeClr val="tx1"/>
                </a:solidFill>
              </a:rPr>
              <a:t>- Alerts when a user clicks a phishing link and then accesses sensitive data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7021835-E34C-C9E6-5047-6F44E069DBA6}"/>
              </a:ext>
            </a:extLst>
          </p:cNvPr>
          <p:cNvSpPr txBox="1"/>
          <p:nvPr/>
        </p:nvSpPr>
        <p:spPr>
          <a:xfrm>
            <a:off x="1238948" y="5867323"/>
            <a:ext cx="1072140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i="1" dirty="0"/>
              <a:t>Example: SOC sees: User clicked malicious link → 2 minutes later, login from Russia → 1 minute later, downloading HR database. SOC immediately disables account and resets credentials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9871374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3D22CD-37BD-DE64-7501-60AC83BD9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E116D8-D68C-DC36-18EC-E30A622630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41709" y="624917"/>
            <a:ext cx="9608884" cy="852800"/>
          </a:xfrm>
        </p:spPr>
        <p:txBody>
          <a:bodyPr>
            <a:normAutofit/>
          </a:bodyPr>
          <a:lstStyle/>
          <a:p>
            <a:r>
              <a:rPr lang="en-US" b="1" dirty="0"/>
              <a:t>4. Detecting Malicious Insiders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417B427-0E22-AC73-B711-ABFC7DD7CA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39531" y="1840352"/>
            <a:ext cx="9013241" cy="3664336"/>
          </a:xfrm>
        </p:spPr>
        <p:txBody>
          <a:bodyPr>
            <a:normAutofit fontScale="85000" lnSpcReduction="10000"/>
          </a:bodyPr>
          <a:lstStyle/>
          <a:p>
            <a:pPr marL="0" marR="0" algn="l">
              <a:lnSpc>
                <a:spcPct val="1150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2400" b="1" kern="100" dirty="0">
                <a:solidFill>
                  <a:srgbClr val="000000"/>
                </a:solidFill>
                <a:effectLst/>
                <a:latin typeface="Aptos Bold" panose="020B0004020202020204" pitchFamily="34" charset="0"/>
                <a:ea typeface="Aptos Bold" panose="020B0004020202020204" pitchFamily="34" charset="0"/>
                <a:cs typeface="Aptos Bold" panose="020B0004020202020204" pitchFamily="34" charset="0"/>
              </a:rPr>
              <a:t>Insider threat detection rules </a:t>
            </a:r>
            <a:endParaRPr lang="en-US" sz="2400" kern="100" dirty="0">
              <a:effectLst/>
              <a:latin typeface="Aptos" panose="020B000402020202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algn="l">
              <a:lnSpc>
                <a:spcPct val="1150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2400" kern="100" dirty="0">
                <a:solidFill>
                  <a:srgbClr val="00000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</a:rPr>
              <a:t>- Flags volume anomalies (e.g., exporting entire database)</a:t>
            </a:r>
            <a:r>
              <a:rPr lang="en-US" sz="2400" kern="100" dirty="0">
                <a:solidFill>
                  <a:srgbClr val="000000"/>
                </a:solidFill>
                <a:effectLst/>
                <a:latin typeface="Arimo"/>
                <a:ea typeface="Arimo"/>
                <a:cs typeface="Arimo"/>
              </a:rPr>
              <a:t> </a:t>
            </a:r>
            <a:endParaRPr lang="en-US" sz="2400" kern="100" dirty="0">
              <a:effectLst/>
              <a:latin typeface="Aptos" panose="020B000402020202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algn="l">
              <a:lnSpc>
                <a:spcPct val="1150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2400" b="1" kern="100" dirty="0">
                <a:solidFill>
                  <a:srgbClr val="000000"/>
                </a:solidFill>
                <a:effectLst/>
                <a:latin typeface="Aptos Bold" panose="020B0004020202020204" pitchFamily="34" charset="0"/>
                <a:ea typeface="Aptos Bold" panose="020B0004020202020204" pitchFamily="34" charset="0"/>
                <a:cs typeface="Aptos Bold" panose="020B0004020202020204" pitchFamily="34" charset="0"/>
              </a:rPr>
              <a:t>Data staging detection </a:t>
            </a:r>
            <a:endParaRPr lang="en-US" sz="2400" kern="100" dirty="0">
              <a:effectLst/>
              <a:latin typeface="Aptos" panose="020B000402020202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algn="l">
              <a:lnSpc>
                <a:spcPct val="1150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2400" kern="100" dirty="0">
                <a:solidFill>
                  <a:srgbClr val="00000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</a:rPr>
              <a:t>-Identifies users moving data to personal drives before leaving</a:t>
            </a:r>
            <a:r>
              <a:rPr lang="en-US" sz="2400" kern="100" dirty="0">
                <a:solidFill>
                  <a:srgbClr val="000000"/>
                </a:solidFill>
                <a:effectLst/>
                <a:latin typeface="Arimo"/>
                <a:ea typeface="Arimo"/>
                <a:cs typeface="Arimo"/>
              </a:rPr>
              <a:t> </a:t>
            </a:r>
            <a:endParaRPr lang="en-US" sz="2400" kern="100" dirty="0">
              <a:effectLst/>
              <a:latin typeface="Aptos" panose="020B000402020202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algn="l">
              <a:lnSpc>
                <a:spcPct val="1150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2400" b="1" kern="100" dirty="0">
                <a:solidFill>
                  <a:srgbClr val="000000"/>
                </a:solidFill>
                <a:effectLst/>
                <a:latin typeface="Aptos Bold" panose="020B0004020202020204" pitchFamily="34" charset="0"/>
                <a:ea typeface="Aptos Bold" panose="020B0004020202020204" pitchFamily="34" charset="0"/>
                <a:cs typeface="Aptos Bold" panose="020B0004020202020204" pitchFamily="34" charset="0"/>
              </a:rPr>
              <a:t>Privilege abuse monitoring </a:t>
            </a:r>
            <a:endParaRPr lang="en-US" sz="2400" kern="100" dirty="0">
              <a:effectLst/>
              <a:latin typeface="Aptos" panose="020B000402020202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algn="l">
              <a:lnSpc>
                <a:spcPct val="1150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2400" kern="100" dirty="0">
                <a:solidFill>
                  <a:srgbClr val="00000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</a:rPr>
              <a:t>- Alerts when admins query sensitive tables without justification</a:t>
            </a:r>
            <a:r>
              <a:rPr lang="en-US" sz="2400" kern="100" dirty="0">
                <a:solidFill>
                  <a:srgbClr val="000000"/>
                </a:solidFill>
                <a:effectLst/>
                <a:latin typeface="Arimo"/>
                <a:ea typeface="Arimo"/>
                <a:cs typeface="Arimo"/>
              </a:rPr>
              <a:t> </a:t>
            </a:r>
            <a:endParaRPr lang="en-US" sz="2400" kern="100" dirty="0">
              <a:effectLst/>
              <a:latin typeface="Aptos" panose="020B000402020202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>
              <a:buNone/>
            </a:pPr>
            <a:r>
              <a:rPr lang="en-US" sz="2400" b="1" dirty="0">
                <a:solidFill>
                  <a:srgbClr val="000000"/>
                </a:solidFill>
                <a:effectLst/>
                <a:latin typeface="Aptos Bold" panose="020B0004020202020204" pitchFamily="34" charset="0"/>
                <a:ea typeface="Aptos Bold" panose="020B0004020202020204" pitchFamily="34" charset="0"/>
                <a:cs typeface="Aptos Bold" panose="020B0004020202020204" pitchFamily="34" charset="0"/>
              </a:rPr>
              <a:t>User-to-user unusual sharing </a:t>
            </a:r>
            <a:br>
              <a:rPr lang="en-US" sz="2400" b="1" dirty="0">
                <a:solidFill>
                  <a:srgbClr val="000000"/>
                </a:solidFill>
                <a:effectLst/>
                <a:latin typeface="Aptos Bold" panose="020B0004020202020204" pitchFamily="34" charset="0"/>
                <a:ea typeface="Aptos Bold" panose="020B0004020202020204" pitchFamily="34" charset="0"/>
                <a:cs typeface="Aptos Bold" panose="020B0004020202020204" pitchFamily="34" charset="0"/>
              </a:rPr>
            </a:br>
            <a:r>
              <a:rPr lang="en-US" sz="2400" b="1" dirty="0">
                <a:solidFill>
                  <a:srgbClr val="000000"/>
                </a:solidFill>
                <a:effectLst/>
                <a:latin typeface="Aptos Bold" panose="020B0004020202020204" pitchFamily="34" charset="0"/>
                <a:ea typeface="Aptos Bold" panose="020B0004020202020204" pitchFamily="34" charset="0"/>
                <a:cs typeface="Aptos Bold" panose="020B0004020202020204" pitchFamily="34" charset="0"/>
              </a:rPr>
              <a:t>- </a:t>
            </a:r>
            <a:r>
              <a:rPr lang="en-US" sz="2400" dirty="0">
                <a:solidFill>
                  <a:srgbClr val="00000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</a:rPr>
              <a:t>Detects data being sent to personal email addresses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CDB3EF-0E6E-F00B-EFD8-EC5DD94E9831}"/>
              </a:ext>
            </a:extLst>
          </p:cNvPr>
          <p:cNvSpPr txBox="1"/>
          <p:nvPr/>
        </p:nvSpPr>
        <p:spPr>
          <a:xfrm>
            <a:off x="1339531" y="5876575"/>
            <a:ext cx="9999029" cy="713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lnSpc>
                <a:spcPct val="1150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1800" i="1" kern="100" dirty="0">
                <a:solidFill>
                  <a:srgbClr val="000000"/>
                </a:solidFill>
                <a:effectLst/>
                <a:latin typeface="Aptos Italics"/>
                <a:ea typeface="Aptos Italics"/>
                <a:cs typeface="Aptos Italics"/>
              </a:rPr>
              <a:t>Example: SOC alerts on: Employee with 2 weeks notice → copying 5GB of engineering docs to USB → uploading to personal Dropbox.</a:t>
            </a:r>
            <a:r>
              <a:rPr lang="en-US" sz="1800" kern="100" dirty="0">
                <a:solidFill>
                  <a:srgbClr val="000000"/>
                </a:solidFill>
                <a:effectLst/>
                <a:latin typeface="Arimo"/>
                <a:ea typeface="Arimo"/>
                <a:cs typeface="Arimo"/>
              </a:rPr>
              <a:t> </a:t>
            </a:r>
            <a:endParaRPr lang="en-US" sz="1800" kern="100" dirty="0">
              <a:effectLst/>
              <a:latin typeface="Aptos" panose="020B000402020202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4723896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4AEBD1-0D53-1E84-5F3E-4239592A5E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F2879B-0D74-22FF-0260-6AB0FAAEC6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355092" y="664625"/>
            <a:ext cx="12902184" cy="813092"/>
          </a:xfrm>
        </p:spPr>
        <p:txBody>
          <a:bodyPr>
            <a:normAutofit/>
          </a:bodyPr>
          <a:lstStyle/>
          <a:p>
            <a:r>
              <a:rPr lang="en-US" sz="4200" b="1" dirty="0"/>
              <a:t>5. Preventing Weak/Stolen Credential Abuse  </a:t>
            </a:r>
            <a:endParaRPr lang="en-US" sz="42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43817D-1787-B742-5D0E-EC0A51B5294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39531" y="1840352"/>
            <a:ext cx="9013241" cy="3664336"/>
          </a:xfrm>
        </p:spPr>
        <p:txBody>
          <a:bodyPr>
            <a:normAutofit fontScale="62500" lnSpcReduction="20000"/>
          </a:bodyPr>
          <a:lstStyle/>
          <a:p>
            <a:pPr marL="0" marR="0" algn="l">
              <a:lnSpc>
                <a:spcPct val="1150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2400" b="1" kern="100" dirty="0">
                <a:solidFill>
                  <a:srgbClr val="000000"/>
                </a:solidFill>
                <a:effectLst/>
                <a:latin typeface="Aptos Bold" panose="020B0004020202020204" pitchFamily="34" charset="0"/>
                <a:ea typeface="Aptos Bold" panose="020B0004020202020204" pitchFamily="34" charset="0"/>
                <a:cs typeface="Aptos Bold" panose="020B0004020202020204" pitchFamily="34" charset="0"/>
              </a:rPr>
              <a:t>Brute force detection </a:t>
            </a:r>
            <a:br>
              <a:rPr lang="en-US" sz="2400" b="1" kern="100" dirty="0">
                <a:solidFill>
                  <a:srgbClr val="000000"/>
                </a:solidFill>
                <a:effectLst/>
                <a:latin typeface="Aptos Bold" panose="020B0004020202020204" pitchFamily="34" charset="0"/>
                <a:ea typeface="Aptos Bold" panose="020B0004020202020204" pitchFamily="34" charset="0"/>
                <a:cs typeface="Aptos Bold" panose="020B0004020202020204" pitchFamily="34" charset="0"/>
              </a:rPr>
            </a:br>
            <a:r>
              <a:rPr lang="en-US" sz="2400" b="1" kern="100" dirty="0">
                <a:solidFill>
                  <a:srgbClr val="000000"/>
                </a:solidFill>
                <a:effectLst/>
                <a:latin typeface="Aptos Bold" panose="020B0004020202020204" pitchFamily="34" charset="0"/>
                <a:ea typeface="Aptos Bold" panose="020B0004020202020204" pitchFamily="34" charset="0"/>
                <a:cs typeface="Aptos Bold" panose="020B0004020202020204" pitchFamily="34" charset="0"/>
              </a:rPr>
              <a:t>- </a:t>
            </a:r>
            <a:r>
              <a:rPr lang="en-US" sz="2400" kern="100" dirty="0">
                <a:solidFill>
                  <a:srgbClr val="00000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</a:rPr>
              <a:t>Blocks repeated failed login attempts</a:t>
            </a:r>
            <a:r>
              <a:rPr lang="en-US" sz="2400" kern="100" dirty="0">
                <a:solidFill>
                  <a:srgbClr val="000000"/>
                </a:solidFill>
                <a:effectLst/>
                <a:latin typeface="Arimo"/>
                <a:ea typeface="Arimo"/>
                <a:cs typeface="Arimo"/>
              </a:rPr>
              <a:t> </a:t>
            </a:r>
            <a:endParaRPr lang="en-US" sz="2400" kern="100" dirty="0">
              <a:effectLst/>
              <a:latin typeface="Aptos" panose="020B000402020202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algn="l">
              <a:lnSpc>
                <a:spcPct val="1150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2400" b="1" kern="100" dirty="0">
                <a:solidFill>
                  <a:srgbClr val="000000"/>
                </a:solidFill>
                <a:effectLst/>
                <a:latin typeface="Aptos Bold" panose="020B0004020202020204" pitchFamily="34" charset="0"/>
                <a:ea typeface="Aptos Bold" panose="020B0004020202020204" pitchFamily="34" charset="0"/>
                <a:cs typeface="Aptos Bold" panose="020B0004020202020204" pitchFamily="34" charset="0"/>
              </a:rPr>
              <a:t>Credential stuffing detection </a:t>
            </a:r>
            <a:endParaRPr lang="en-US" sz="2400" kern="100" dirty="0">
              <a:effectLst/>
              <a:latin typeface="Aptos" panose="020B000402020202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algn="l">
              <a:lnSpc>
                <a:spcPct val="1150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2400" kern="100" dirty="0">
                <a:solidFill>
                  <a:srgbClr val="00000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</a:rPr>
              <a:t>- Identifies login attempts using passwords from previous breaches</a:t>
            </a:r>
            <a:r>
              <a:rPr lang="en-US" sz="2400" kern="100" dirty="0">
                <a:solidFill>
                  <a:srgbClr val="000000"/>
                </a:solidFill>
                <a:effectLst/>
                <a:latin typeface="Arimo"/>
                <a:ea typeface="Arimo"/>
                <a:cs typeface="Arimo"/>
              </a:rPr>
              <a:t> </a:t>
            </a:r>
            <a:endParaRPr lang="en-US" sz="2400" kern="100" dirty="0">
              <a:effectLst/>
              <a:latin typeface="Aptos" panose="020B000402020202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algn="l">
              <a:lnSpc>
                <a:spcPct val="1150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2400" b="1" kern="100" dirty="0">
                <a:solidFill>
                  <a:srgbClr val="000000"/>
                </a:solidFill>
                <a:effectLst/>
                <a:latin typeface="Aptos Bold" panose="020B0004020202020204" pitchFamily="34" charset="0"/>
                <a:ea typeface="Aptos Bold" panose="020B0004020202020204" pitchFamily="34" charset="0"/>
                <a:cs typeface="Aptos Bold" panose="020B0004020202020204" pitchFamily="34" charset="0"/>
              </a:rPr>
              <a:t>Anomalous login detection </a:t>
            </a:r>
            <a:endParaRPr lang="en-US" sz="2400" kern="100" dirty="0">
              <a:effectLst/>
              <a:latin typeface="Aptos" panose="020B000402020202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algn="l">
              <a:lnSpc>
                <a:spcPct val="1150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2400" kern="100" dirty="0">
                <a:solidFill>
                  <a:srgbClr val="00000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</a:rPr>
              <a:t>- Flags impossible travel (e.g., login from Lagos and London within 1 hour)</a:t>
            </a:r>
            <a:r>
              <a:rPr lang="en-US" sz="2400" kern="100" dirty="0">
                <a:solidFill>
                  <a:srgbClr val="000000"/>
                </a:solidFill>
                <a:effectLst/>
                <a:latin typeface="Arimo"/>
                <a:ea typeface="Arimo"/>
                <a:cs typeface="Arimo"/>
              </a:rPr>
              <a:t> </a:t>
            </a:r>
            <a:endParaRPr lang="en-US" sz="2400" kern="100" dirty="0">
              <a:effectLst/>
              <a:latin typeface="Aptos" panose="020B000402020202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algn="l">
              <a:lnSpc>
                <a:spcPct val="1150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2400" b="1" kern="100" dirty="0">
                <a:solidFill>
                  <a:srgbClr val="000000"/>
                </a:solidFill>
                <a:effectLst/>
                <a:latin typeface="Aptos Bold" panose="020B0004020202020204" pitchFamily="34" charset="0"/>
                <a:ea typeface="Aptos Bold" panose="020B0004020202020204" pitchFamily="34" charset="0"/>
                <a:cs typeface="Aptos Bold" panose="020B0004020202020204" pitchFamily="34" charset="0"/>
              </a:rPr>
              <a:t>MFA bypass monitoring </a:t>
            </a:r>
            <a:endParaRPr lang="en-US" sz="2400" kern="100" dirty="0">
              <a:effectLst/>
              <a:latin typeface="Aptos" panose="020B000402020202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algn="l">
              <a:lnSpc>
                <a:spcPct val="1150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2400" kern="100" dirty="0">
                <a:solidFill>
                  <a:srgbClr val="00000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</a:rPr>
              <a:t>- Detects when MFA is disabled or SMS codes are intercepted</a:t>
            </a:r>
            <a:r>
              <a:rPr lang="en-US" sz="2400" kern="100" dirty="0">
                <a:solidFill>
                  <a:srgbClr val="000000"/>
                </a:solidFill>
                <a:effectLst/>
                <a:latin typeface="Arimo"/>
                <a:ea typeface="Arimo"/>
                <a:cs typeface="Arimo"/>
              </a:rPr>
              <a:t> </a:t>
            </a:r>
            <a:endParaRPr lang="en-US" sz="2400" kern="100" dirty="0">
              <a:effectLst/>
              <a:latin typeface="Aptos" panose="020B000402020202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algn="l">
              <a:lnSpc>
                <a:spcPct val="1150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2400" b="1" kern="100" dirty="0">
                <a:solidFill>
                  <a:srgbClr val="000000"/>
                </a:solidFill>
                <a:effectLst/>
                <a:latin typeface="Aptos Bold" panose="020B0004020202020204" pitchFamily="34" charset="0"/>
                <a:ea typeface="Aptos Bold" panose="020B0004020202020204" pitchFamily="34" charset="0"/>
                <a:cs typeface="Aptos Bold" panose="020B0004020202020204" pitchFamily="34" charset="0"/>
              </a:rPr>
              <a:t>Honeytoken deployment </a:t>
            </a:r>
            <a:endParaRPr lang="en-US" sz="2400" kern="100" dirty="0">
              <a:effectLst/>
              <a:latin typeface="Aptos" panose="020B000402020202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>
              <a:buNone/>
            </a:pPr>
            <a:r>
              <a:rPr lang="en-US" sz="2400" dirty="0">
                <a:solidFill>
                  <a:srgbClr val="00000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</a:rPr>
              <a:t>- SOC plants fake credentials; any use triggers an alert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13C296A-AA1F-FDEA-5D34-913F47093B75}"/>
              </a:ext>
            </a:extLst>
          </p:cNvPr>
          <p:cNvSpPr txBox="1"/>
          <p:nvPr/>
        </p:nvSpPr>
        <p:spPr>
          <a:xfrm>
            <a:off x="1238948" y="5867323"/>
            <a:ext cx="1072140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i="1" dirty="0"/>
              <a:t>Example: SOC sees: Admin account used from new device at 2 AM → accessing customer database → unusual data export. SOC blocks session and rotates credentials.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32505061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FB1424-1D1F-F3C9-620C-5E31A39BFB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EEA5A0-3697-CFF6-8F6A-CEFA138D1D8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41709" y="0"/>
            <a:ext cx="9608884" cy="1689302"/>
          </a:xfrm>
        </p:spPr>
        <p:txBody>
          <a:bodyPr>
            <a:normAutofit/>
          </a:bodyPr>
          <a:lstStyle/>
          <a:p>
            <a:r>
              <a:rPr lang="en-US" b="1" dirty="0"/>
              <a:t>6. Detecting Software Vulnerability Exploitation  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37430F2-CD5B-9091-25A0-B7250FE1916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39530" y="1946144"/>
            <a:ext cx="9013241" cy="3664336"/>
          </a:xfrm>
        </p:spPr>
        <p:txBody>
          <a:bodyPr>
            <a:normAutofit fontScale="85000" lnSpcReduction="20000"/>
          </a:bodyPr>
          <a:lstStyle/>
          <a:p>
            <a:pPr algn="l"/>
            <a:r>
              <a:rPr lang="en-US" b="1" dirty="0">
                <a:solidFill>
                  <a:schemeClr val="tx1"/>
                </a:solidFill>
              </a:rPr>
              <a:t>Threat intelligence integration </a:t>
            </a:r>
            <a:endParaRPr lang="en-US" dirty="0">
              <a:solidFill>
                <a:schemeClr val="tx1"/>
              </a:solidFill>
            </a:endParaRPr>
          </a:p>
          <a:p>
            <a:pPr algn="l"/>
            <a:r>
              <a:rPr lang="en-US" dirty="0">
                <a:solidFill>
                  <a:schemeClr val="tx1"/>
                </a:solidFill>
              </a:rPr>
              <a:t>- SOC receives CVE alerts (e.g., Log4Shell) and scans for vulnerable assets </a:t>
            </a:r>
          </a:p>
          <a:p>
            <a:pPr algn="l"/>
            <a:r>
              <a:rPr lang="en-US" b="1" dirty="0">
                <a:solidFill>
                  <a:schemeClr val="tx1"/>
                </a:solidFill>
              </a:rPr>
              <a:t>Exploit detection </a:t>
            </a:r>
            <a:endParaRPr lang="en-US" dirty="0">
              <a:solidFill>
                <a:schemeClr val="tx1"/>
              </a:solidFill>
            </a:endParaRPr>
          </a:p>
          <a:p>
            <a:pPr algn="l"/>
            <a:r>
              <a:rPr lang="en-US" dirty="0">
                <a:solidFill>
                  <a:schemeClr val="tx1"/>
                </a:solidFill>
              </a:rPr>
              <a:t>- Looks for exploit attempts in logs (e.g., SQL injection patterns, remote code execution) </a:t>
            </a:r>
          </a:p>
          <a:p>
            <a:pPr algn="l"/>
            <a:r>
              <a:rPr lang="en-US" b="1" dirty="0">
                <a:solidFill>
                  <a:schemeClr val="tx1"/>
                </a:solidFill>
              </a:rPr>
              <a:t>Patch compliance monitoring </a:t>
            </a:r>
            <a:endParaRPr lang="en-US" dirty="0">
              <a:solidFill>
                <a:schemeClr val="tx1"/>
              </a:solidFill>
            </a:endParaRPr>
          </a:p>
          <a:p>
            <a:pPr algn="l"/>
            <a:r>
              <a:rPr lang="en-US" dirty="0">
                <a:solidFill>
                  <a:schemeClr val="tx1"/>
                </a:solidFill>
              </a:rPr>
              <a:t>- SOC verifies critical patches are applied within SLA </a:t>
            </a:r>
          </a:p>
          <a:p>
            <a:pPr algn="l"/>
            <a:r>
              <a:rPr lang="en-US" b="1" dirty="0">
                <a:solidFill>
                  <a:schemeClr val="tx1"/>
                </a:solidFill>
              </a:rPr>
              <a:t>Honeypots </a:t>
            </a:r>
            <a:endParaRPr lang="en-US" dirty="0">
              <a:solidFill>
                <a:schemeClr val="tx1"/>
              </a:solidFill>
            </a:endParaRPr>
          </a:p>
          <a:p>
            <a:pPr algn="l"/>
            <a:r>
              <a:rPr lang="en-US" dirty="0">
                <a:solidFill>
                  <a:schemeClr val="tx1"/>
                </a:solidFill>
              </a:rPr>
              <a:t>- Decoy infrastructures/databases that alert SOC when touched </a:t>
            </a:r>
          </a:p>
        </p:txBody>
      </p:sp>
    </p:spTree>
    <p:extLst>
      <p:ext uri="{BB962C8B-B14F-4D97-AF65-F5344CB8AC3E}">
        <p14:creationId xmlns:p14="http://schemas.microsoft.com/office/powerpoint/2010/main" val="18023007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D0CE19-1B6D-492C-F001-4E7AC599CE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E8916E-3258-EE6A-236B-76274B993C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8872" y="151050"/>
            <a:ext cx="11954256" cy="1689302"/>
          </a:xfrm>
        </p:spPr>
        <p:txBody>
          <a:bodyPr>
            <a:normAutofit/>
          </a:bodyPr>
          <a:lstStyle/>
          <a:p>
            <a:r>
              <a:rPr lang="en-US" b="1" dirty="0"/>
              <a:t>7. Monitoring Third-Party/Vendor Risks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4250B60-BE05-B27D-855F-42AD68D031D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39531" y="1840352"/>
            <a:ext cx="9013241" cy="3664336"/>
          </a:xfrm>
        </p:spPr>
        <p:txBody>
          <a:bodyPr>
            <a:normAutofit fontScale="92500" lnSpcReduction="20000"/>
          </a:bodyPr>
          <a:lstStyle/>
          <a:p>
            <a:pPr marL="0" marR="0" algn="l">
              <a:lnSpc>
                <a:spcPct val="1150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2400" b="1" kern="100" dirty="0">
                <a:solidFill>
                  <a:srgbClr val="000000"/>
                </a:solidFill>
                <a:effectLst/>
                <a:latin typeface="Aptos Bold" panose="020B0004020202020204" pitchFamily="34" charset="0"/>
                <a:ea typeface="Aptos Bold" panose="020B0004020202020204" pitchFamily="34" charset="0"/>
                <a:cs typeface="Aptos Bold" panose="020B0004020202020204" pitchFamily="34" charset="0"/>
              </a:rPr>
              <a:t>Third-party API monitoring </a:t>
            </a:r>
            <a:endParaRPr lang="en-US" sz="2400" kern="100" dirty="0">
              <a:effectLst/>
              <a:latin typeface="Aptos" panose="020B000402020202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algn="l">
              <a:lnSpc>
                <a:spcPct val="1150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2400" kern="100" dirty="0">
                <a:solidFill>
                  <a:srgbClr val="00000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</a:rPr>
              <a:t>- Detects excessive or unusual API calls from vendors</a:t>
            </a:r>
            <a:r>
              <a:rPr lang="en-US" sz="2400" kern="100" dirty="0">
                <a:solidFill>
                  <a:srgbClr val="000000"/>
                </a:solidFill>
                <a:effectLst/>
                <a:latin typeface="Arimo"/>
                <a:ea typeface="Arimo"/>
                <a:cs typeface="Arimo"/>
              </a:rPr>
              <a:t> </a:t>
            </a:r>
            <a:endParaRPr lang="en-US" sz="2400" kern="100" dirty="0">
              <a:effectLst/>
              <a:latin typeface="Aptos" panose="020B000402020202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algn="l">
              <a:lnSpc>
                <a:spcPct val="1150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2400" b="1" kern="100" dirty="0">
                <a:solidFill>
                  <a:srgbClr val="000000"/>
                </a:solidFill>
                <a:effectLst/>
                <a:latin typeface="Aptos Bold" panose="020B0004020202020204" pitchFamily="34" charset="0"/>
                <a:ea typeface="Aptos Bold" panose="020B0004020202020204" pitchFamily="34" charset="0"/>
                <a:cs typeface="Aptos Bold" panose="020B0004020202020204" pitchFamily="34" charset="0"/>
              </a:rPr>
              <a:t>Vendor access reviews </a:t>
            </a:r>
            <a:br>
              <a:rPr lang="en-US" sz="2400" b="1" kern="100" dirty="0">
                <a:solidFill>
                  <a:srgbClr val="000000"/>
                </a:solidFill>
                <a:effectLst/>
                <a:latin typeface="Aptos Bold" panose="020B0004020202020204" pitchFamily="34" charset="0"/>
                <a:ea typeface="Aptos Bold" panose="020B0004020202020204" pitchFamily="34" charset="0"/>
                <a:cs typeface="Aptos Bold" panose="020B0004020202020204" pitchFamily="34" charset="0"/>
              </a:rPr>
            </a:br>
            <a:r>
              <a:rPr lang="en-US" sz="2400" b="1" kern="100" dirty="0">
                <a:solidFill>
                  <a:srgbClr val="000000"/>
                </a:solidFill>
                <a:effectLst/>
                <a:latin typeface="Aptos Bold" panose="020B0004020202020204" pitchFamily="34" charset="0"/>
                <a:ea typeface="Aptos Bold" panose="020B0004020202020204" pitchFamily="34" charset="0"/>
                <a:cs typeface="Aptos Bold" panose="020B0004020202020204" pitchFamily="34" charset="0"/>
              </a:rPr>
              <a:t>- </a:t>
            </a:r>
            <a:r>
              <a:rPr lang="en-US" sz="2400" kern="100" dirty="0">
                <a:solidFill>
                  <a:srgbClr val="00000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</a:rPr>
              <a:t>Flags stale vendor accounts still active</a:t>
            </a:r>
            <a:r>
              <a:rPr lang="en-US" sz="2400" kern="100" dirty="0">
                <a:solidFill>
                  <a:srgbClr val="000000"/>
                </a:solidFill>
                <a:effectLst/>
                <a:latin typeface="Arimo"/>
                <a:ea typeface="Arimo"/>
                <a:cs typeface="Arimo"/>
              </a:rPr>
              <a:t> </a:t>
            </a:r>
            <a:endParaRPr lang="en-US" sz="2400" kern="100" dirty="0">
              <a:effectLst/>
              <a:latin typeface="Aptos" panose="020B000402020202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algn="l">
              <a:lnSpc>
                <a:spcPct val="1150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2400" b="1" kern="100" dirty="0">
                <a:solidFill>
                  <a:srgbClr val="000000"/>
                </a:solidFill>
                <a:effectLst/>
                <a:latin typeface="Aptos Bold" panose="020B0004020202020204" pitchFamily="34" charset="0"/>
                <a:ea typeface="Aptos Bold" panose="020B0004020202020204" pitchFamily="34" charset="0"/>
                <a:cs typeface="Aptos Bold" panose="020B0004020202020204" pitchFamily="34" charset="0"/>
              </a:rPr>
              <a:t>Data transfer tracking </a:t>
            </a:r>
            <a:endParaRPr lang="en-US" sz="2400" kern="100" dirty="0">
              <a:effectLst/>
              <a:latin typeface="Aptos" panose="020B000402020202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algn="l">
              <a:lnSpc>
                <a:spcPct val="1150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2400" kern="100" dirty="0">
                <a:solidFill>
                  <a:srgbClr val="00000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</a:rPr>
              <a:t>- Monitors what data vendors are pulling from your systems</a:t>
            </a:r>
            <a:r>
              <a:rPr lang="en-US" sz="2400" kern="100" dirty="0">
                <a:solidFill>
                  <a:srgbClr val="000000"/>
                </a:solidFill>
                <a:effectLst/>
                <a:latin typeface="Arimo"/>
                <a:ea typeface="Arimo"/>
                <a:cs typeface="Arimo"/>
              </a:rPr>
              <a:t> </a:t>
            </a:r>
            <a:endParaRPr lang="en-US" sz="2400" kern="100" dirty="0">
              <a:effectLst/>
              <a:latin typeface="Aptos" panose="020B000402020202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algn="l">
              <a:lnSpc>
                <a:spcPct val="1150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2400" b="1" kern="100" dirty="0">
                <a:solidFill>
                  <a:srgbClr val="000000"/>
                </a:solidFill>
                <a:effectLst/>
                <a:latin typeface="Aptos Bold" panose="020B0004020202020204" pitchFamily="34" charset="0"/>
                <a:ea typeface="Aptos Bold" panose="020B0004020202020204" pitchFamily="34" charset="0"/>
                <a:cs typeface="Aptos Bold" panose="020B0004020202020204" pitchFamily="34" charset="0"/>
              </a:rPr>
              <a:t>Threat intel on vendors </a:t>
            </a:r>
            <a:endParaRPr lang="en-US" sz="2400" kern="100" dirty="0">
              <a:effectLst/>
              <a:latin typeface="Aptos" panose="020B000402020202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algn="l">
              <a:lnSpc>
                <a:spcPct val="1150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2400" kern="100" dirty="0">
                <a:solidFill>
                  <a:srgbClr val="00000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</a:rPr>
              <a:t>- Subscribes to breach reports involving your vendors</a:t>
            </a:r>
            <a:r>
              <a:rPr lang="en-US" sz="2400" kern="100" dirty="0">
                <a:solidFill>
                  <a:srgbClr val="000000"/>
                </a:solidFill>
                <a:effectLst/>
                <a:latin typeface="Arimo"/>
                <a:ea typeface="Arimo"/>
                <a:cs typeface="Arimo"/>
              </a:rPr>
              <a:t> </a:t>
            </a:r>
            <a:endParaRPr lang="en-US" sz="2400" kern="100" dirty="0">
              <a:effectLst/>
              <a:latin typeface="Aptos" panose="020B000402020202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AA66338-C5BA-0F76-A483-89ADE0DD17CA}"/>
              </a:ext>
            </a:extLst>
          </p:cNvPr>
          <p:cNvSpPr txBox="1"/>
          <p:nvPr/>
        </p:nvSpPr>
        <p:spPr>
          <a:xfrm>
            <a:off x="1238948" y="5867323"/>
            <a:ext cx="1072140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i="1" dirty="0"/>
              <a:t>Example: SOC intel alert: "Vendor X had a breach." SOC immediately rotates all keys and revokes vendor access pending review.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8381313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E71B15-EBA0-6FC9-4809-60D3825511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3B2406-D4A7-7148-C15F-C8CF0D1EB2A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8872" y="151050"/>
            <a:ext cx="11954256" cy="1689302"/>
          </a:xfrm>
        </p:spPr>
        <p:txBody>
          <a:bodyPr>
            <a:normAutofit/>
          </a:bodyPr>
          <a:lstStyle/>
          <a:p>
            <a:r>
              <a:rPr lang="en-US" b="1" dirty="0"/>
              <a:t>WHAT To do in the incident of data leak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B4A2BBC-E31F-00D4-E745-709B6669491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81287" y="1840352"/>
            <a:ext cx="4117371" cy="4629274"/>
          </a:xfrm>
        </p:spPr>
        <p:txBody>
          <a:bodyPr>
            <a:normAutofit fontScale="85000" lnSpcReduction="20000"/>
          </a:bodyPr>
          <a:lstStyle/>
          <a:p>
            <a:pPr algn="l">
              <a:lnSpc>
                <a:spcPct val="1150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sz="2400" b="1" dirty="0">
                <a:solidFill>
                  <a:schemeClr val="tx1"/>
                </a:solidFill>
              </a:rPr>
              <a:t>Detection</a:t>
            </a:r>
            <a:br>
              <a:rPr lang="en-US" sz="2400" b="1" dirty="0">
                <a:solidFill>
                  <a:schemeClr val="tx1"/>
                </a:solidFill>
              </a:rPr>
            </a:br>
            <a:r>
              <a:rPr lang="en-US" sz="2400" b="1" dirty="0">
                <a:solidFill>
                  <a:schemeClr val="tx1"/>
                </a:solidFill>
              </a:rPr>
              <a:t>↓</a:t>
            </a:r>
            <a:br>
              <a:rPr lang="en-US" sz="2400" b="1" dirty="0">
                <a:solidFill>
                  <a:schemeClr val="tx1"/>
                </a:solidFill>
              </a:rPr>
            </a:br>
            <a:r>
              <a:rPr lang="en-US" sz="2400" b="1" dirty="0">
                <a:solidFill>
                  <a:schemeClr val="tx1"/>
                </a:solidFill>
              </a:rPr>
              <a:t>Triage</a:t>
            </a:r>
            <a:br>
              <a:rPr lang="en-US" sz="2400" b="1" dirty="0">
                <a:solidFill>
                  <a:schemeClr val="tx1"/>
                </a:solidFill>
              </a:rPr>
            </a:br>
            <a:r>
              <a:rPr lang="en-US" sz="2400" b="1" dirty="0">
                <a:solidFill>
                  <a:schemeClr val="tx1"/>
                </a:solidFill>
              </a:rPr>
              <a:t>↓</a:t>
            </a:r>
            <a:br>
              <a:rPr lang="en-US" sz="2400" b="1" dirty="0">
                <a:solidFill>
                  <a:schemeClr val="tx1"/>
                </a:solidFill>
              </a:rPr>
            </a:br>
            <a:r>
              <a:rPr lang="en-US" sz="2400" b="1" dirty="0">
                <a:solidFill>
                  <a:schemeClr val="tx1"/>
                </a:solidFill>
              </a:rPr>
              <a:t>Containment</a:t>
            </a:r>
            <a:br>
              <a:rPr lang="en-US" sz="2400" b="1" dirty="0">
                <a:solidFill>
                  <a:schemeClr val="tx1"/>
                </a:solidFill>
              </a:rPr>
            </a:br>
            <a:r>
              <a:rPr lang="en-US" sz="2400" b="1" dirty="0">
                <a:solidFill>
                  <a:schemeClr val="tx1"/>
                </a:solidFill>
              </a:rPr>
              <a:t>↓</a:t>
            </a:r>
            <a:br>
              <a:rPr lang="en-US" sz="2400" b="1" dirty="0">
                <a:solidFill>
                  <a:schemeClr val="tx1"/>
                </a:solidFill>
              </a:rPr>
            </a:br>
            <a:r>
              <a:rPr lang="en-US" sz="2400" b="1" dirty="0">
                <a:solidFill>
                  <a:schemeClr val="tx1"/>
                </a:solidFill>
              </a:rPr>
              <a:t>Investigation &amp; Forensics</a:t>
            </a:r>
            <a:br>
              <a:rPr lang="en-US" sz="2400" b="1" dirty="0">
                <a:solidFill>
                  <a:schemeClr val="tx1"/>
                </a:solidFill>
              </a:rPr>
            </a:br>
            <a:r>
              <a:rPr lang="en-US" sz="2400" b="1" dirty="0">
                <a:solidFill>
                  <a:schemeClr val="tx1"/>
                </a:solidFill>
              </a:rPr>
              <a:t>↓</a:t>
            </a:r>
            <a:br>
              <a:rPr lang="en-US" sz="2400" b="1" dirty="0">
                <a:solidFill>
                  <a:schemeClr val="tx1"/>
                </a:solidFill>
              </a:rPr>
            </a:br>
            <a:r>
              <a:rPr lang="en-US" sz="2400" b="1" dirty="0">
                <a:solidFill>
                  <a:schemeClr val="tx1"/>
                </a:solidFill>
              </a:rPr>
              <a:t>Eradication</a:t>
            </a:r>
            <a:br>
              <a:rPr lang="en-US" sz="2400" b="1" dirty="0">
                <a:solidFill>
                  <a:schemeClr val="tx1"/>
                </a:solidFill>
              </a:rPr>
            </a:br>
            <a:r>
              <a:rPr lang="en-US" sz="2400" b="1" dirty="0">
                <a:solidFill>
                  <a:schemeClr val="tx1"/>
                </a:solidFill>
              </a:rPr>
              <a:t>↓</a:t>
            </a:r>
            <a:br>
              <a:rPr lang="en-US" sz="2400" b="1" dirty="0">
                <a:solidFill>
                  <a:schemeClr val="tx1"/>
                </a:solidFill>
              </a:rPr>
            </a:br>
            <a:r>
              <a:rPr lang="en-US" sz="2400" b="1" dirty="0">
                <a:solidFill>
                  <a:schemeClr val="tx1"/>
                </a:solidFill>
              </a:rPr>
              <a:t>Recovery</a:t>
            </a:r>
            <a:br>
              <a:rPr lang="en-US" sz="2400" b="1" dirty="0">
                <a:solidFill>
                  <a:schemeClr val="tx1"/>
                </a:solidFill>
              </a:rPr>
            </a:br>
            <a:r>
              <a:rPr lang="en-US" sz="2400" b="1" dirty="0">
                <a:solidFill>
                  <a:schemeClr val="tx1"/>
                </a:solidFill>
              </a:rPr>
              <a:t>↓</a:t>
            </a:r>
            <a:br>
              <a:rPr lang="en-US" sz="2400" b="1" dirty="0">
                <a:solidFill>
                  <a:schemeClr val="tx1"/>
                </a:solidFill>
              </a:rPr>
            </a:br>
            <a:r>
              <a:rPr lang="en-US" sz="2400" b="1" dirty="0">
                <a:solidFill>
                  <a:schemeClr val="tx1"/>
                </a:solidFill>
              </a:rPr>
              <a:t>Communication &amp; Reporting</a:t>
            </a:r>
            <a:br>
              <a:rPr lang="en-US" sz="2400" b="1" dirty="0">
                <a:solidFill>
                  <a:schemeClr val="tx1"/>
                </a:solidFill>
              </a:rPr>
            </a:br>
            <a:r>
              <a:rPr lang="en-US" sz="2400" b="1" dirty="0">
                <a:solidFill>
                  <a:schemeClr val="tx1"/>
                </a:solidFill>
              </a:rPr>
              <a:t>↓</a:t>
            </a:r>
            <a:br>
              <a:rPr lang="en-US" sz="2400" b="1" dirty="0">
                <a:solidFill>
                  <a:schemeClr val="tx1"/>
                </a:solidFill>
              </a:rPr>
            </a:br>
            <a:r>
              <a:rPr lang="en-US" sz="2400" b="1" dirty="0">
                <a:solidFill>
                  <a:schemeClr val="tx1"/>
                </a:solidFill>
              </a:rPr>
              <a:t>Lessons Learned</a:t>
            </a:r>
            <a:endParaRPr lang="en-US" sz="2400" b="1" kern="100" dirty="0">
              <a:solidFill>
                <a:schemeClr val="tx1"/>
              </a:solidFill>
              <a:effectLst/>
              <a:latin typeface="Aptos" panose="020B000402020202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26148379"/>
      </p:ext>
    </p:extLst>
  </p:cSld>
  <p:clrMapOvr>
    <a:masterClrMapping/>
  </p:clrMapOvr>
</p:sld>
</file>

<file path=ppt/theme/theme1.xml><?xml version="1.0" encoding="utf-8"?>
<a:theme xmlns:a="http://schemas.openxmlformats.org/drawingml/2006/main" name="Droplet">
  <a:themeElements>
    <a:clrScheme name="Droplet">
      <a:dk1>
        <a:sysClr val="windowText" lastClr="000000"/>
      </a:dk1>
      <a:lt1>
        <a:sysClr val="window" lastClr="FFFFFF"/>
      </a:lt1>
      <a:dk2>
        <a:srgbClr val="355071"/>
      </a:dk2>
      <a:lt2>
        <a:srgbClr val="AABED7"/>
      </a:lt2>
      <a:accent1>
        <a:srgbClr val="2FA3EE"/>
      </a:accent1>
      <a:accent2>
        <a:srgbClr val="4BCAAD"/>
      </a:accent2>
      <a:accent3>
        <a:srgbClr val="86C157"/>
      </a:accent3>
      <a:accent4>
        <a:srgbClr val="D99C3F"/>
      </a:accent4>
      <a:accent5>
        <a:srgbClr val="CE6633"/>
      </a:accent5>
      <a:accent6>
        <a:srgbClr val="A35DD1"/>
      </a:accent6>
      <a:hlink>
        <a:srgbClr val="56BCFE"/>
      </a:hlink>
      <a:folHlink>
        <a:srgbClr val="97C5E3"/>
      </a:folHlink>
    </a:clrScheme>
    <a:fontScheme name="Drople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roplet">
      <a:fillStyleLst>
        <a:solidFill>
          <a:schemeClr val="phClr"/>
        </a:solidFill>
        <a:solidFill>
          <a:schemeClr val="phClr">
            <a:tint val="69000"/>
            <a:satMod val="105000"/>
            <a:lumMod val="110000"/>
          </a:schemeClr>
        </a:solidFill>
        <a:gradFill rotWithShape="1">
          <a:gsLst>
            <a:gs pos="0">
              <a:schemeClr val="phClr">
                <a:tint val="94000"/>
                <a:satMod val="100000"/>
                <a:lumMod val="108000"/>
              </a:schemeClr>
            </a:gs>
            <a:gs pos="50000">
              <a:schemeClr val="phClr">
                <a:tint val="98000"/>
                <a:shade val="100000"/>
                <a:satMod val="100000"/>
                <a:lumMod val="100000"/>
              </a:schemeClr>
            </a:gs>
            <a:gs pos="100000">
              <a:schemeClr val="phClr">
                <a:shade val="72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60000"/>
            </a:schemeClr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28000"/>
              </a:srgbClr>
            </a:outerShdw>
          </a:effectLst>
        </a:effectStyle>
        <a:effectStyle>
          <a:effectLst>
            <a:outerShdw blurRad="63500" dist="25400" dir="5400000" algn="ctr" rotWithShape="0">
              <a:srgbClr val="000000">
                <a:alpha val="69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200000"/>
            </a:lightRig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4000"/>
                <a:shade val="100000"/>
                <a:hueMod val="130000"/>
                <a:satMod val="150000"/>
                <a:lumMod val="112000"/>
              </a:schemeClr>
            </a:gs>
            <a:gs pos="100000">
              <a:schemeClr val="phClr">
                <a:shade val="92000"/>
                <a:satMod val="140000"/>
                <a:lumMod val="11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roplet" id="{8984A317-299A-4E50-B45D-BFC9EDE2337A}" vid="{A633B6A3-9E7F-4C10-9C98-2517A313436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19ed6838-8934-4c4c-9c0f-f3f7d20a03aa}" enabled="1" method="Privileged" siteId="{ffcea58c-766b-4eea-9684-92cc7cb3c5e9}" contentBits="2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{AA18EB5F-C4E6-4341-88FA-2BFAEC649C47}TF62d0d592-7ac2-4846-a919-75806e8bead49553d537-f813ce055067</Template>
  <TotalTime>604</TotalTime>
  <Words>2794</Words>
  <Application>Microsoft Office PowerPoint</Application>
  <PresentationFormat>Widescreen</PresentationFormat>
  <Paragraphs>281</Paragraphs>
  <Slides>28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7" baseType="lpstr">
      <vt:lpstr>Aptos</vt:lpstr>
      <vt:lpstr>Aptos Bold</vt:lpstr>
      <vt:lpstr>Aptos Italics</vt:lpstr>
      <vt:lpstr>Arial</vt:lpstr>
      <vt:lpstr>Arimo</vt:lpstr>
      <vt:lpstr>Calibri</vt:lpstr>
      <vt:lpstr>Canva Sans Bold</vt:lpstr>
      <vt:lpstr>Tw Cen MT</vt:lpstr>
      <vt:lpstr>Droplet</vt:lpstr>
      <vt:lpstr>Data Leaks and the Role of SOC in Mitigating the Risk </vt:lpstr>
      <vt:lpstr>Objectives </vt:lpstr>
      <vt:lpstr>PowerPoint Presentation</vt:lpstr>
      <vt:lpstr>PowerPoint Presentation</vt:lpstr>
      <vt:lpstr>IMPORTANCE OF DATA TO AN ORGANISATION </vt:lpstr>
      <vt:lpstr>Impact: data-driven organizations are 5-6% more productive and 6% more profitable than competitors (mit sloan). </vt:lpstr>
      <vt:lpstr>CUSTOMER UNDERSTANDING &amp; PERSONALIZATION </vt:lpstr>
      <vt:lpstr>OPERATIONAL EFFICIENCY &amp; COST REDUCTION </vt:lpstr>
      <vt:lpstr>RISK MANAGEMENT &amp; SECURITY </vt:lpstr>
      <vt:lpstr>INNOVATION &amp; PRODUCT DEVELOPMENT  </vt:lpstr>
      <vt:lpstr>COMPETITIVE ADVANTAGE  </vt:lpstr>
      <vt:lpstr>REVENUE GENERATION &amp; MONETIZATION </vt:lpstr>
      <vt:lpstr>REGULATORY COMPLIANCE &amp; LEGAL PROTECTION </vt:lpstr>
      <vt:lpstr>CRISIS RESPONSE &amp; BUSINESS CONTINUITY </vt:lpstr>
      <vt:lpstr>The Hidden Costs of Ignoring Data </vt:lpstr>
      <vt:lpstr>SECURITY RISK RELATED WITH DATA </vt:lpstr>
      <vt:lpstr>Data leaks</vt:lpstr>
      <vt:lpstr>DATA PROTECTION(SECURITY)  </vt:lpstr>
      <vt:lpstr>RESEARCH REVIEW On causes of DATA LEAKS </vt:lpstr>
      <vt:lpstr>The ROLE OF SOC IN MITIGATING DATA-LEAKS </vt:lpstr>
      <vt:lpstr>1. Detecting &amp; Preventing Human Error  </vt:lpstr>
      <vt:lpstr>2. Identifying System Misconfigurations  </vt:lpstr>
      <vt:lpstr>3. Responding to Phishing Attacks     </vt:lpstr>
      <vt:lpstr>4. Detecting Malicious Insiders</vt:lpstr>
      <vt:lpstr>5. Preventing Weak/Stolen Credential Abuse  </vt:lpstr>
      <vt:lpstr>6. Detecting Software Vulnerability Exploitation  </vt:lpstr>
      <vt:lpstr>7. Monitoring Third-Party/Vendor Risks</vt:lpstr>
      <vt:lpstr>WHAT To do in the incident of data leak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 Leaks and the Role of SOC in Mitigating the Risk</dc:title>
  <dc:creator>ABIOLA</dc:creator>
  <cp:lastModifiedBy>Adebowale Adeniran</cp:lastModifiedBy>
  <cp:revision>10</cp:revision>
  <dcterms:created xsi:type="dcterms:W3CDTF">2026-05-20T08:21:41Z</dcterms:created>
  <dcterms:modified xsi:type="dcterms:W3CDTF">2026-05-22T10:22:32Z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lassificationContentMarkingFooterLocations">
    <vt:lpwstr>Droplet:8</vt:lpwstr>
  </property>
  <property fmtid="{D5CDD505-2E9C-101B-9397-08002B2CF9AE}" pid="3" name="ClassificationContentMarkingFooterText">
    <vt:lpwstr>Sensitivity: COMMERCIALLY CONFIDENTIAL</vt:lpwstr>
  </property>
</Properties>
</file>